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00503000000020004"/>
      <p:regular r:id="rId19"/>
    </p:embeddedFont>
    <p:embeddedFont>
      <p:font typeface="Inter" charset="1" panose="02000503000000020004"/>
      <p:regular r:id="rId20"/>
    </p:embeddedFont>
    <p:embeddedFont>
      <p:font typeface="Glacial Indifference" charset="1" panose="00000000000000000000"/>
      <p:regular r:id="rId21"/>
    </p:embeddedFont>
    <p:embeddedFont>
      <p:font typeface="Consolas" charset="1" panose="020B06090202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14" Target="../media/image38.svg" Type="http://schemas.openxmlformats.org/officeDocument/2006/relationships/image"/><Relationship Id="rId15" Target="../media/image39.png" Type="http://schemas.openxmlformats.org/officeDocument/2006/relationships/image"/><Relationship Id="rId16" Target="../media/image40.png" Type="http://schemas.openxmlformats.org/officeDocument/2006/relationships/image"/><Relationship Id="rId17" Target="../media/image41.svg" Type="http://schemas.openxmlformats.org/officeDocument/2006/relationships/image"/><Relationship Id="rId18" Target="../media/image42.png" Type="http://schemas.openxmlformats.org/officeDocument/2006/relationships/image"/><Relationship Id="rId19" Target="../media/image43.png" Type="http://schemas.openxmlformats.org/officeDocument/2006/relationships/image"/><Relationship Id="rId2" Target="../notesSlides/notesSlide9.xml" Type="http://schemas.openxmlformats.org/officeDocument/2006/relationships/notesSlide"/><Relationship Id="rId20" Target="../media/image44.sv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4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50238" y="2666105"/>
            <a:ext cx="9445523" cy="2686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US Road Accident Intelligence &amp; Risk Prediction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50238" y="5692083"/>
            <a:ext cx="9445523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data-driven web platform analyzing 15 years of US traffic accident data to identify high-risk locations, time patterns, and victim demographics, providing predictive insights and interactive dashboards for road safety planning.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71447" y="8334761"/>
            <a:ext cx="2743438" cy="177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7"/>
              </a:lnSpc>
            </a:pPr>
            <a:r>
              <a:rPr lang="en-US" sz="35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By:</a:t>
            </a:r>
          </a:p>
          <a:p>
            <a:pPr algn="ctr">
              <a:lnSpc>
                <a:spcPts val="4627"/>
              </a:lnSpc>
            </a:pPr>
            <a:r>
              <a:rPr lang="en-US" sz="33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P.V.S Sruthi </a:t>
            </a:r>
          </a:p>
          <a:p>
            <a:pPr algn="ctr">
              <a:lnSpc>
                <a:spcPts val="4627"/>
              </a:lnSpc>
            </a:pPr>
            <a:r>
              <a:rPr lang="en-US" sz="33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23BDS0176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>
            <a:hlinkClick r:id="rId4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00100" y="629545"/>
            <a:ext cx="2114550" cy="429520"/>
            <a:chOff x="0" y="0"/>
            <a:chExt cx="2819400" cy="5726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19400" cy="572643"/>
            </a:xfrm>
            <a:custGeom>
              <a:avLst/>
              <a:gdLst/>
              <a:ahLst/>
              <a:cxnLst/>
              <a:rect r="r" b="b" t="t" l="l"/>
              <a:pathLst>
                <a:path h="572643" w="2819400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2717038" y="0"/>
                  </a:lnTo>
                  <a:cubicBezTo>
                    <a:pt x="2773553" y="0"/>
                    <a:pt x="2819400" y="45847"/>
                    <a:pt x="2819400" y="102362"/>
                  </a:cubicBezTo>
                  <a:lnTo>
                    <a:pt x="2819400" y="470281"/>
                  </a:lnTo>
                  <a:cubicBezTo>
                    <a:pt x="2819400" y="526796"/>
                    <a:pt x="2773553" y="572643"/>
                    <a:pt x="2717038" y="572643"/>
                  </a:cubicBezTo>
                  <a:lnTo>
                    <a:pt x="102362" y="572643"/>
                  </a:lnTo>
                  <a:cubicBezTo>
                    <a:pt x="45847" y="572643"/>
                    <a:pt x="0" y="526796"/>
                    <a:pt x="0" y="470281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37174" y="640852"/>
            <a:ext cx="1840411" cy="349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PROJECT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0100" y="1131389"/>
            <a:ext cx="982980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Building a Comprehensive Decision-Support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0100" y="2560139"/>
            <a:ext cx="9829800" cy="8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project transcends mere analysis by developing three integrated components that form a robust decision-support system for road safety.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95338" y="3620091"/>
            <a:ext cx="4810125" cy="3491503"/>
            <a:chOff x="0" y="0"/>
            <a:chExt cx="6413500" cy="46553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6400800" cy="4642612"/>
            </a:xfrm>
            <a:custGeom>
              <a:avLst/>
              <a:gdLst/>
              <a:ahLst/>
              <a:cxnLst/>
              <a:rect r="r" b="b" t="t" l="l"/>
              <a:pathLst>
                <a:path h="4642612" w="6400800">
                  <a:moveTo>
                    <a:pt x="0" y="128016"/>
                  </a:moveTo>
                  <a:cubicBezTo>
                    <a:pt x="0" y="57277"/>
                    <a:pt x="57404" y="0"/>
                    <a:pt x="128143" y="0"/>
                  </a:cubicBezTo>
                  <a:lnTo>
                    <a:pt x="6272657" y="0"/>
                  </a:lnTo>
                  <a:cubicBezTo>
                    <a:pt x="6343396" y="0"/>
                    <a:pt x="6400800" y="57277"/>
                    <a:pt x="6400800" y="128016"/>
                  </a:cubicBezTo>
                  <a:lnTo>
                    <a:pt x="6400800" y="4514596"/>
                  </a:lnTo>
                  <a:cubicBezTo>
                    <a:pt x="6400800" y="4585335"/>
                    <a:pt x="6343396" y="4642612"/>
                    <a:pt x="6272657" y="4642612"/>
                  </a:cubicBezTo>
                  <a:lnTo>
                    <a:pt x="128143" y="4642612"/>
                  </a:lnTo>
                  <a:cubicBezTo>
                    <a:pt x="57404" y="4642612"/>
                    <a:pt x="0" y="4585335"/>
                    <a:pt x="0" y="4514596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13500" cy="4655312"/>
            </a:xfrm>
            <a:custGeom>
              <a:avLst/>
              <a:gdLst/>
              <a:ahLst/>
              <a:cxnLst/>
              <a:rect r="r" b="b" t="t" l="l"/>
              <a:pathLst>
                <a:path h="4655312" w="6413500">
                  <a:moveTo>
                    <a:pt x="0" y="134366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6279007" y="0"/>
                  </a:lnTo>
                  <a:lnTo>
                    <a:pt x="6279007" y="6350"/>
                  </a:lnTo>
                  <a:lnTo>
                    <a:pt x="6279007" y="0"/>
                  </a:lnTo>
                  <a:cubicBezTo>
                    <a:pt x="6353302" y="0"/>
                    <a:pt x="6413500" y="60198"/>
                    <a:pt x="6413500" y="134366"/>
                  </a:cubicBezTo>
                  <a:lnTo>
                    <a:pt x="6407150" y="134366"/>
                  </a:lnTo>
                  <a:lnTo>
                    <a:pt x="6413500" y="134366"/>
                  </a:lnTo>
                  <a:lnTo>
                    <a:pt x="6413500" y="4520946"/>
                  </a:lnTo>
                  <a:lnTo>
                    <a:pt x="6407150" y="4520946"/>
                  </a:lnTo>
                  <a:lnTo>
                    <a:pt x="6413500" y="4520946"/>
                  </a:lnTo>
                  <a:cubicBezTo>
                    <a:pt x="6413500" y="4595114"/>
                    <a:pt x="6353302" y="4655312"/>
                    <a:pt x="6279007" y="4655312"/>
                  </a:cubicBezTo>
                  <a:lnTo>
                    <a:pt x="6279007" y="4648962"/>
                  </a:lnTo>
                  <a:lnTo>
                    <a:pt x="6279007" y="4655312"/>
                  </a:lnTo>
                  <a:lnTo>
                    <a:pt x="134493" y="4655312"/>
                  </a:lnTo>
                  <a:lnTo>
                    <a:pt x="134493" y="4648962"/>
                  </a:lnTo>
                  <a:lnTo>
                    <a:pt x="134493" y="4655312"/>
                  </a:lnTo>
                  <a:cubicBezTo>
                    <a:pt x="60198" y="4655312"/>
                    <a:pt x="0" y="4595114"/>
                    <a:pt x="0" y="4520946"/>
                  </a:cubicBezTo>
                  <a:lnTo>
                    <a:pt x="0" y="134366"/>
                  </a:lnTo>
                  <a:lnTo>
                    <a:pt x="6350" y="134366"/>
                  </a:lnTo>
                  <a:lnTo>
                    <a:pt x="0" y="134366"/>
                  </a:lnTo>
                  <a:moveTo>
                    <a:pt x="12700" y="134366"/>
                  </a:moveTo>
                  <a:lnTo>
                    <a:pt x="12700" y="4520946"/>
                  </a:lnTo>
                  <a:lnTo>
                    <a:pt x="6350" y="4520946"/>
                  </a:lnTo>
                  <a:lnTo>
                    <a:pt x="12700" y="4520946"/>
                  </a:lnTo>
                  <a:cubicBezTo>
                    <a:pt x="12700" y="4588129"/>
                    <a:pt x="67183" y="4642612"/>
                    <a:pt x="134493" y="4642612"/>
                  </a:cubicBezTo>
                  <a:lnTo>
                    <a:pt x="6279007" y="4642612"/>
                  </a:lnTo>
                  <a:cubicBezTo>
                    <a:pt x="6346317" y="4642612"/>
                    <a:pt x="6400800" y="4588129"/>
                    <a:pt x="6400800" y="4520946"/>
                  </a:cubicBezTo>
                  <a:lnTo>
                    <a:pt x="6400800" y="134366"/>
                  </a:lnTo>
                  <a:cubicBezTo>
                    <a:pt x="6400800" y="67183"/>
                    <a:pt x="6346317" y="12700"/>
                    <a:pt x="6279007" y="12700"/>
                  </a:cubicBezTo>
                  <a:lnTo>
                    <a:pt x="134493" y="12700"/>
                  </a:lnTo>
                  <a:lnTo>
                    <a:pt x="134493" y="6350"/>
                  </a:lnTo>
                  <a:lnTo>
                    <a:pt x="134493" y="12700"/>
                  </a:lnTo>
                  <a:cubicBezTo>
                    <a:pt x="67183" y="12700"/>
                    <a:pt x="12700" y="67183"/>
                    <a:pt x="12700" y="134366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38225" y="3862978"/>
            <a:ext cx="685800" cy="685800"/>
            <a:chOff x="0" y="0"/>
            <a:chExt cx="91440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1226791" y="4051544"/>
            <a:ext cx="308524" cy="308524"/>
          </a:xfrm>
          <a:custGeom>
            <a:avLst/>
            <a:gdLst/>
            <a:ahLst/>
            <a:cxnLst/>
            <a:rect r="r" b="b" t="t" l="l"/>
            <a:pathLst>
              <a:path h="308524" w="308524">
                <a:moveTo>
                  <a:pt x="0" y="0"/>
                </a:moveTo>
                <a:lnTo>
                  <a:pt x="308525" y="0"/>
                </a:lnTo>
                <a:lnTo>
                  <a:pt x="308525" y="308525"/>
                </a:lnTo>
                <a:lnTo>
                  <a:pt x="0" y="308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515" t="0" r="-1512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38225" y="4767853"/>
            <a:ext cx="432435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R-based Data Science Engine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8225" y="5695502"/>
            <a:ext cx="4324350" cy="8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Cleans, analyzes, and models extensive accident data for accurate insights.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824538" y="3620091"/>
            <a:ext cx="4810125" cy="3491503"/>
            <a:chOff x="0" y="0"/>
            <a:chExt cx="6413500" cy="46553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6400800" cy="4642612"/>
            </a:xfrm>
            <a:custGeom>
              <a:avLst/>
              <a:gdLst/>
              <a:ahLst/>
              <a:cxnLst/>
              <a:rect r="r" b="b" t="t" l="l"/>
              <a:pathLst>
                <a:path h="4642612" w="6400800">
                  <a:moveTo>
                    <a:pt x="0" y="128016"/>
                  </a:moveTo>
                  <a:cubicBezTo>
                    <a:pt x="0" y="57277"/>
                    <a:pt x="57404" y="0"/>
                    <a:pt x="128143" y="0"/>
                  </a:cubicBezTo>
                  <a:lnTo>
                    <a:pt x="6272657" y="0"/>
                  </a:lnTo>
                  <a:cubicBezTo>
                    <a:pt x="6343396" y="0"/>
                    <a:pt x="6400800" y="57277"/>
                    <a:pt x="6400800" y="128016"/>
                  </a:cubicBezTo>
                  <a:lnTo>
                    <a:pt x="6400800" y="4514596"/>
                  </a:lnTo>
                  <a:cubicBezTo>
                    <a:pt x="6400800" y="4585335"/>
                    <a:pt x="6343396" y="4642612"/>
                    <a:pt x="6272657" y="4642612"/>
                  </a:cubicBezTo>
                  <a:lnTo>
                    <a:pt x="128143" y="4642612"/>
                  </a:lnTo>
                  <a:cubicBezTo>
                    <a:pt x="57404" y="4642612"/>
                    <a:pt x="0" y="4585335"/>
                    <a:pt x="0" y="4514596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13500" cy="4655312"/>
            </a:xfrm>
            <a:custGeom>
              <a:avLst/>
              <a:gdLst/>
              <a:ahLst/>
              <a:cxnLst/>
              <a:rect r="r" b="b" t="t" l="l"/>
              <a:pathLst>
                <a:path h="4655312" w="6413500">
                  <a:moveTo>
                    <a:pt x="0" y="134366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6279007" y="0"/>
                  </a:lnTo>
                  <a:lnTo>
                    <a:pt x="6279007" y="6350"/>
                  </a:lnTo>
                  <a:lnTo>
                    <a:pt x="6279007" y="0"/>
                  </a:lnTo>
                  <a:cubicBezTo>
                    <a:pt x="6353302" y="0"/>
                    <a:pt x="6413500" y="60198"/>
                    <a:pt x="6413500" y="134366"/>
                  </a:cubicBezTo>
                  <a:lnTo>
                    <a:pt x="6407150" y="134366"/>
                  </a:lnTo>
                  <a:lnTo>
                    <a:pt x="6413500" y="134366"/>
                  </a:lnTo>
                  <a:lnTo>
                    <a:pt x="6413500" y="4520946"/>
                  </a:lnTo>
                  <a:lnTo>
                    <a:pt x="6407150" y="4520946"/>
                  </a:lnTo>
                  <a:lnTo>
                    <a:pt x="6413500" y="4520946"/>
                  </a:lnTo>
                  <a:cubicBezTo>
                    <a:pt x="6413500" y="4595114"/>
                    <a:pt x="6353302" y="4655312"/>
                    <a:pt x="6279007" y="4655312"/>
                  </a:cubicBezTo>
                  <a:lnTo>
                    <a:pt x="6279007" y="4648962"/>
                  </a:lnTo>
                  <a:lnTo>
                    <a:pt x="6279007" y="4655312"/>
                  </a:lnTo>
                  <a:lnTo>
                    <a:pt x="134493" y="4655312"/>
                  </a:lnTo>
                  <a:lnTo>
                    <a:pt x="134493" y="4648962"/>
                  </a:lnTo>
                  <a:lnTo>
                    <a:pt x="134493" y="4655312"/>
                  </a:lnTo>
                  <a:cubicBezTo>
                    <a:pt x="60198" y="4655312"/>
                    <a:pt x="0" y="4595114"/>
                    <a:pt x="0" y="4520946"/>
                  </a:cubicBezTo>
                  <a:lnTo>
                    <a:pt x="0" y="134366"/>
                  </a:lnTo>
                  <a:lnTo>
                    <a:pt x="6350" y="134366"/>
                  </a:lnTo>
                  <a:lnTo>
                    <a:pt x="0" y="134366"/>
                  </a:lnTo>
                  <a:moveTo>
                    <a:pt x="12700" y="134366"/>
                  </a:moveTo>
                  <a:lnTo>
                    <a:pt x="12700" y="4520946"/>
                  </a:lnTo>
                  <a:lnTo>
                    <a:pt x="6350" y="4520946"/>
                  </a:lnTo>
                  <a:lnTo>
                    <a:pt x="12700" y="4520946"/>
                  </a:lnTo>
                  <a:cubicBezTo>
                    <a:pt x="12700" y="4588129"/>
                    <a:pt x="67183" y="4642612"/>
                    <a:pt x="134493" y="4642612"/>
                  </a:cubicBezTo>
                  <a:lnTo>
                    <a:pt x="6279007" y="4642612"/>
                  </a:lnTo>
                  <a:cubicBezTo>
                    <a:pt x="6346317" y="4642612"/>
                    <a:pt x="6400800" y="4588129"/>
                    <a:pt x="6400800" y="4520946"/>
                  </a:cubicBezTo>
                  <a:lnTo>
                    <a:pt x="6400800" y="134366"/>
                  </a:lnTo>
                  <a:cubicBezTo>
                    <a:pt x="6400800" y="67183"/>
                    <a:pt x="6346317" y="12700"/>
                    <a:pt x="6279007" y="12700"/>
                  </a:cubicBezTo>
                  <a:lnTo>
                    <a:pt x="134493" y="12700"/>
                  </a:lnTo>
                  <a:lnTo>
                    <a:pt x="134493" y="6350"/>
                  </a:lnTo>
                  <a:lnTo>
                    <a:pt x="134493" y="12700"/>
                  </a:lnTo>
                  <a:cubicBezTo>
                    <a:pt x="67183" y="12700"/>
                    <a:pt x="12700" y="67183"/>
                    <a:pt x="12700" y="134366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067425" y="3862978"/>
            <a:ext cx="685800" cy="685800"/>
            <a:chOff x="0" y="0"/>
            <a:chExt cx="9144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6255991" y="4051544"/>
            <a:ext cx="308524" cy="308524"/>
          </a:xfrm>
          <a:custGeom>
            <a:avLst/>
            <a:gdLst/>
            <a:ahLst/>
            <a:cxnLst/>
            <a:rect r="r" b="b" t="t" l="l"/>
            <a:pathLst>
              <a:path h="308524" w="308524">
                <a:moveTo>
                  <a:pt x="0" y="0"/>
                </a:moveTo>
                <a:lnTo>
                  <a:pt x="308525" y="0"/>
                </a:lnTo>
                <a:lnTo>
                  <a:pt x="308525" y="308525"/>
                </a:lnTo>
                <a:lnTo>
                  <a:pt x="0" y="308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544" t="0" r="-4544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067425" y="4767853"/>
            <a:ext cx="432435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Power BI Analytics Dashboard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67425" y="5695502"/>
            <a:ext cx="4324350" cy="117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Provides interactive visual insights tailored for policymakers and the public.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95338" y="7330678"/>
            <a:ext cx="9839325" cy="2331539"/>
            <a:chOff x="0" y="0"/>
            <a:chExt cx="13119100" cy="31087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" y="6350"/>
              <a:ext cx="13106400" cy="3096006"/>
            </a:xfrm>
            <a:custGeom>
              <a:avLst/>
              <a:gdLst/>
              <a:ahLst/>
              <a:cxnLst/>
              <a:rect r="r" b="b" t="t" l="l"/>
              <a:pathLst>
                <a:path h="3096006" w="13106400">
                  <a:moveTo>
                    <a:pt x="0" y="128016"/>
                  </a:moveTo>
                  <a:cubicBezTo>
                    <a:pt x="0" y="57277"/>
                    <a:pt x="57531" y="0"/>
                    <a:pt x="128397" y="0"/>
                  </a:cubicBezTo>
                  <a:lnTo>
                    <a:pt x="12978003" y="0"/>
                  </a:lnTo>
                  <a:cubicBezTo>
                    <a:pt x="13048869" y="0"/>
                    <a:pt x="13106400" y="57277"/>
                    <a:pt x="13106400" y="128016"/>
                  </a:cubicBezTo>
                  <a:lnTo>
                    <a:pt x="13106400" y="2967990"/>
                  </a:lnTo>
                  <a:cubicBezTo>
                    <a:pt x="13106400" y="3038729"/>
                    <a:pt x="13048869" y="3096006"/>
                    <a:pt x="12978003" y="3096006"/>
                  </a:cubicBezTo>
                  <a:lnTo>
                    <a:pt x="128397" y="3096006"/>
                  </a:lnTo>
                  <a:cubicBezTo>
                    <a:pt x="57531" y="3096006"/>
                    <a:pt x="0" y="3038729"/>
                    <a:pt x="0" y="2967990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119100" cy="3108706"/>
            </a:xfrm>
            <a:custGeom>
              <a:avLst/>
              <a:gdLst/>
              <a:ahLst/>
              <a:cxnLst/>
              <a:rect r="r" b="b" t="t" l="l"/>
              <a:pathLst>
                <a:path h="3108706" w="13119100">
                  <a:moveTo>
                    <a:pt x="0" y="134366"/>
                  </a:moveTo>
                  <a:cubicBezTo>
                    <a:pt x="0" y="60198"/>
                    <a:pt x="60325" y="0"/>
                    <a:pt x="134747" y="0"/>
                  </a:cubicBezTo>
                  <a:lnTo>
                    <a:pt x="12984353" y="0"/>
                  </a:lnTo>
                  <a:lnTo>
                    <a:pt x="12984353" y="6350"/>
                  </a:lnTo>
                  <a:lnTo>
                    <a:pt x="12984353" y="0"/>
                  </a:lnTo>
                  <a:cubicBezTo>
                    <a:pt x="13058775" y="0"/>
                    <a:pt x="13119100" y="60198"/>
                    <a:pt x="13119100" y="134366"/>
                  </a:cubicBezTo>
                  <a:lnTo>
                    <a:pt x="13112750" y="134366"/>
                  </a:lnTo>
                  <a:lnTo>
                    <a:pt x="13119100" y="134366"/>
                  </a:lnTo>
                  <a:lnTo>
                    <a:pt x="13119100" y="2974340"/>
                  </a:lnTo>
                  <a:lnTo>
                    <a:pt x="13112750" y="2974340"/>
                  </a:lnTo>
                  <a:lnTo>
                    <a:pt x="13119100" y="2974340"/>
                  </a:lnTo>
                  <a:cubicBezTo>
                    <a:pt x="13119100" y="3048508"/>
                    <a:pt x="13058775" y="3108706"/>
                    <a:pt x="12984353" y="3108706"/>
                  </a:cubicBezTo>
                  <a:lnTo>
                    <a:pt x="12984353" y="3102356"/>
                  </a:lnTo>
                  <a:lnTo>
                    <a:pt x="12984353" y="3108706"/>
                  </a:lnTo>
                  <a:lnTo>
                    <a:pt x="134747" y="3108706"/>
                  </a:lnTo>
                  <a:lnTo>
                    <a:pt x="134747" y="3102356"/>
                  </a:lnTo>
                  <a:lnTo>
                    <a:pt x="134747" y="3108706"/>
                  </a:lnTo>
                  <a:cubicBezTo>
                    <a:pt x="60325" y="3108706"/>
                    <a:pt x="0" y="3048635"/>
                    <a:pt x="0" y="2974340"/>
                  </a:cubicBezTo>
                  <a:lnTo>
                    <a:pt x="0" y="134366"/>
                  </a:lnTo>
                  <a:lnTo>
                    <a:pt x="6350" y="134366"/>
                  </a:lnTo>
                  <a:lnTo>
                    <a:pt x="0" y="134366"/>
                  </a:lnTo>
                  <a:moveTo>
                    <a:pt x="12700" y="134366"/>
                  </a:moveTo>
                  <a:lnTo>
                    <a:pt x="12700" y="2974340"/>
                  </a:lnTo>
                  <a:lnTo>
                    <a:pt x="6350" y="2974340"/>
                  </a:lnTo>
                  <a:lnTo>
                    <a:pt x="12700" y="2974340"/>
                  </a:lnTo>
                  <a:cubicBezTo>
                    <a:pt x="12700" y="3041523"/>
                    <a:pt x="67310" y="3096006"/>
                    <a:pt x="134747" y="3096006"/>
                  </a:cubicBezTo>
                  <a:lnTo>
                    <a:pt x="12984353" y="3096006"/>
                  </a:lnTo>
                  <a:cubicBezTo>
                    <a:pt x="13051791" y="3096006"/>
                    <a:pt x="13106400" y="3041523"/>
                    <a:pt x="13106400" y="2974340"/>
                  </a:cubicBezTo>
                  <a:lnTo>
                    <a:pt x="13106400" y="134366"/>
                  </a:lnTo>
                  <a:cubicBezTo>
                    <a:pt x="13106400" y="67183"/>
                    <a:pt x="13051791" y="12700"/>
                    <a:pt x="12984353" y="12700"/>
                  </a:cubicBezTo>
                  <a:lnTo>
                    <a:pt x="134747" y="12700"/>
                  </a:lnTo>
                  <a:lnTo>
                    <a:pt x="134747" y="6350"/>
                  </a:lnTo>
                  <a:lnTo>
                    <a:pt x="134747" y="12700"/>
                  </a:lnTo>
                  <a:cubicBezTo>
                    <a:pt x="67310" y="12700"/>
                    <a:pt x="12700" y="67183"/>
                    <a:pt x="12700" y="134366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38225" y="7573566"/>
            <a:ext cx="685800" cy="685800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4" id="34" descr="preencoded.png"/>
          <p:cNvSpPr/>
          <p:nvPr/>
        </p:nvSpPr>
        <p:spPr>
          <a:xfrm flipH="false" flipV="false" rot="0">
            <a:off x="1226791" y="7762132"/>
            <a:ext cx="308524" cy="308524"/>
          </a:xfrm>
          <a:custGeom>
            <a:avLst/>
            <a:gdLst/>
            <a:ahLst/>
            <a:cxnLst/>
            <a:rect r="r" b="b" t="t" l="l"/>
            <a:pathLst>
              <a:path h="308524" w="308524">
                <a:moveTo>
                  <a:pt x="0" y="0"/>
                </a:moveTo>
                <a:lnTo>
                  <a:pt x="308525" y="0"/>
                </a:lnTo>
                <a:lnTo>
                  <a:pt x="308525" y="308524"/>
                </a:lnTo>
                <a:lnTo>
                  <a:pt x="0" y="308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31" t="0" r="-3028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038225" y="8478441"/>
            <a:ext cx="342915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Website Interface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38225" y="8977465"/>
            <a:ext cx="9353550" cy="44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Hosts dashboards, explains key insights, and presents predictive outcomes.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40003" y="1165622"/>
            <a:ext cx="2596153" cy="504825"/>
            <a:chOff x="0" y="0"/>
            <a:chExt cx="3461537" cy="673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61639" cy="673100"/>
            </a:xfrm>
            <a:custGeom>
              <a:avLst/>
              <a:gdLst/>
              <a:ahLst/>
              <a:cxnLst/>
              <a:rect r="r" b="b" t="t" l="l"/>
              <a:pathLst>
                <a:path h="673100" w="3461639">
                  <a:moveTo>
                    <a:pt x="0" y="120396"/>
                  </a:moveTo>
                  <a:cubicBezTo>
                    <a:pt x="0" y="53848"/>
                    <a:pt x="53848" y="0"/>
                    <a:pt x="120396" y="0"/>
                  </a:cubicBezTo>
                  <a:lnTo>
                    <a:pt x="3341243" y="0"/>
                  </a:lnTo>
                  <a:cubicBezTo>
                    <a:pt x="3407664" y="0"/>
                    <a:pt x="3461639" y="53848"/>
                    <a:pt x="3461639" y="120396"/>
                  </a:cubicBezTo>
                  <a:lnTo>
                    <a:pt x="3461639" y="552704"/>
                  </a:lnTo>
                  <a:cubicBezTo>
                    <a:pt x="3461639" y="619125"/>
                    <a:pt x="3407791" y="673100"/>
                    <a:pt x="3341243" y="673100"/>
                  </a:cubicBezTo>
                  <a:lnTo>
                    <a:pt x="120396" y="673100"/>
                  </a:lnTo>
                  <a:cubicBezTo>
                    <a:pt x="53848" y="673100"/>
                    <a:pt x="0" y="619252"/>
                    <a:pt x="0" y="552704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76501" y="1242768"/>
            <a:ext cx="2323157" cy="30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REAL-WORLD IMPACT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0003" y="1758706"/>
            <a:ext cx="11404254" cy="69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18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Addressing Critical Road Safety Challenges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003" y="2756897"/>
            <a:ext cx="16408003" cy="95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Our project directly tackles significant real-world problems in road safety, providing actionable solutions for various stakeholders.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0953" y="3994842"/>
            <a:ext cx="8107861" cy="2091633"/>
            <a:chOff x="0" y="0"/>
            <a:chExt cx="10810481" cy="27888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10759694" cy="2737993"/>
            </a:xfrm>
            <a:custGeom>
              <a:avLst/>
              <a:gdLst/>
              <a:ahLst/>
              <a:cxnLst/>
              <a:rect r="r" b="b" t="t" l="l"/>
              <a:pathLst>
                <a:path h="2737993" w="10759694">
                  <a:moveTo>
                    <a:pt x="0" y="243840"/>
                  </a:moveTo>
                  <a:cubicBezTo>
                    <a:pt x="0" y="109220"/>
                    <a:pt x="110617" y="0"/>
                    <a:pt x="247269" y="0"/>
                  </a:cubicBezTo>
                  <a:lnTo>
                    <a:pt x="10512425" y="0"/>
                  </a:lnTo>
                  <a:cubicBezTo>
                    <a:pt x="10648950" y="0"/>
                    <a:pt x="10759694" y="109220"/>
                    <a:pt x="10759694" y="243840"/>
                  </a:cubicBezTo>
                  <a:lnTo>
                    <a:pt x="10759694" y="2494153"/>
                  </a:lnTo>
                  <a:cubicBezTo>
                    <a:pt x="10759694" y="2628773"/>
                    <a:pt x="10649077" y="2737993"/>
                    <a:pt x="10512425" y="2737993"/>
                  </a:cubicBezTo>
                  <a:lnTo>
                    <a:pt x="247269" y="2737993"/>
                  </a:lnTo>
                  <a:cubicBezTo>
                    <a:pt x="110617" y="2737993"/>
                    <a:pt x="0" y="2628900"/>
                    <a:pt x="0" y="249415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10494" cy="2788793"/>
            </a:xfrm>
            <a:custGeom>
              <a:avLst/>
              <a:gdLst/>
              <a:ahLst/>
              <a:cxnLst/>
              <a:rect r="r" b="b" t="t" l="l"/>
              <a:pathLst>
                <a:path h="2788793" w="10810494">
                  <a:moveTo>
                    <a:pt x="0" y="269240"/>
                  </a:moveTo>
                  <a:cubicBezTo>
                    <a:pt x="0" y="120269"/>
                    <a:pt x="122428" y="0"/>
                    <a:pt x="272669" y="0"/>
                  </a:cubicBezTo>
                  <a:lnTo>
                    <a:pt x="10537825" y="0"/>
                  </a:lnTo>
                  <a:lnTo>
                    <a:pt x="10537825" y="25400"/>
                  </a:lnTo>
                  <a:lnTo>
                    <a:pt x="10537825" y="0"/>
                  </a:lnTo>
                  <a:cubicBezTo>
                    <a:pt x="10688066" y="0"/>
                    <a:pt x="10810494" y="120269"/>
                    <a:pt x="10810494" y="269240"/>
                  </a:cubicBezTo>
                  <a:lnTo>
                    <a:pt x="10785094" y="269240"/>
                  </a:lnTo>
                  <a:lnTo>
                    <a:pt x="10810494" y="269240"/>
                  </a:lnTo>
                  <a:lnTo>
                    <a:pt x="10810494" y="2519553"/>
                  </a:lnTo>
                  <a:lnTo>
                    <a:pt x="10785094" y="2519553"/>
                  </a:lnTo>
                  <a:lnTo>
                    <a:pt x="10810494" y="2519553"/>
                  </a:lnTo>
                  <a:cubicBezTo>
                    <a:pt x="10810494" y="2668524"/>
                    <a:pt x="10688066" y="2788793"/>
                    <a:pt x="10537825" y="2788793"/>
                  </a:cubicBezTo>
                  <a:lnTo>
                    <a:pt x="10537825" y="2763393"/>
                  </a:lnTo>
                  <a:lnTo>
                    <a:pt x="10537825" y="2788793"/>
                  </a:lnTo>
                  <a:lnTo>
                    <a:pt x="272669" y="2788793"/>
                  </a:lnTo>
                  <a:lnTo>
                    <a:pt x="272669" y="2763393"/>
                  </a:lnTo>
                  <a:lnTo>
                    <a:pt x="272669" y="2788793"/>
                  </a:lnTo>
                  <a:cubicBezTo>
                    <a:pt x="122428" y="2788793"/>
                    <a:pt x="0" y="2668651"/>
                    <a:pt x="0" y="251955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19553"/>
                  </a:lnTo>
                  <a:lnTo>
                    <a:pt x="25400" y="2519553"/>
                  </a:lnTo>
                  <a:lnTo>
                    <a:pt x="50800" y="2519553"/>
                  </a:lnTo>
                  <a:cubicBezTo>
                    <a:pt x="50800" y="2639822"/>
                    <a:pt x="149733" y="2737993"/>
                    <a:pt x="272669" y="2737993"/>
                  </a:cubicBezTo>
                  <a:lnTo>
                    <a:pt x="10537825" y="2737993"/>
                  </a:lnTo>
                  <a:cubicBezTo>
                    <a:pt x="10660634" y="2737993"/>
                    <a:pt x="10759694" y="2639822"/>
                    <a:pt x="10759694" y="2519553"/>
                  </a:cubicBezTo>
                  <a:lnTo>
                    <a:pt x="10759694" y="269240"/>
                  </a:lnTo>
                  <a:cubicBezTo>
                    <a:pt x="10759694" y="148971"/>
                    <a:pt x="10660761" y="50800"/>
                    <a:pt x="10537825" y="50800"/>
                  </a:cubicBezTo>
                  <a:lnTo>
                    <a:pt x="272669" y="50800"/>
                  </a:lnTo>
                  <a:lnTo>
                    <a:pt x="272669" y="25400"/>
                  </a:lnTo>
                  <a:lnTo>
                    <a:pt x="272669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01903" y="4013892"/>
            <a:ext cx="152400" cy="2053533"/>
            <a:chOff x="0" y="0"/>
            <a:chExt cx="203200" cy="27380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3200" cy="2737993"/>
            </a:xfrm>
            <a:custGeom>
              <a:avLst/>
              <a:gdLst/>
              <a:ahLst/>
              <a:cxnLst/>
              <a:rect r="r" b="b" t="t" l="l"/>
              <a:pathLst>
                <a:path h="273799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636393"/>
                  </a:lnTo>
                  <a:cubicBezTo>
                    <a:pt x="203200" y="2692527"/>
                    <a:pt x="157734" y="2737993"/>
                    <a:pt x="101600" y="2737993"/>
                  </a:cubicBezTo>
                  <a:cubicBezTo>
                    <a:pt x="45466" y="2737993"/>
                    <a:pt x="0" y="2692527"/>
                    <a:pt x="0" y="2636393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360884" y="4310958"/>
            <a:ext cx="4526166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Accident Hotspot Detection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0884" y="4805953"/>
            <a:ext cx="7342289" cy="95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Leverages geo and area analysis to identify locations with high accident clusters, guiding resource allocation.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59195" y="3994842"/>
            <a:ext cx="8107861" cy="2091633"/>
            <a:chOff x="0" y="0"/>
            <a:chExt cx="10810481" cy="27888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400" y="25400"/>
              <a:ext cx="10759694" cy="2737993"/>
            </a:xfrm>
            <a:custGeom>
              <a:avLst/>
              <a:gdLst/>
              <a:ahLst/>
              <a:cxnLst/>
              <a:rect r="r" b="b" t="t" l="l"/>
              <a:pathLst>
                <a:path h="2737993" w="10759694">
                  <a:moveTo>
                    <a:pt x="0" y="243840"/>
                  </a:moveTo>
                  <a:cubicBezTo>
                    <a:pt x="0" y="109220"/>
                    <a:pt x="110617" y="0"/>
                    <a:pt x="247269" y="0"/>
                  </a:cubicBezTo>
                  <a:lnTo>
                    <a:pt x="10512425" y="0"/>
                  </a:lnTo>
                  <a:cubicBezTo>
                    <a:pt x="10648950" y="0"/>
                    <a:pt x="10759694" y="109220"/>
                    <a:pt x="10759694" y="243840"/>
                  </a:cubicBezTo>
                  <a:lnTo>
                    <a:pt x="10759694" y="2494153"/>
                  </a:lnTo>
                  <a:cubicBezTo>
                    <a:pt x="10759694" y="2628773"/>
                    <a:pt x="10649077" y="2737993"/>
                    <a:pt x="10512425" y="2737993"/>
                  </a:cubicBezTo>
                  <a:lnTo>
                    <a:pt x="247269" y="2737993"/>
                  </a:lnTo>
                  <a:cubicBezTo>
                    <a:pt x="110617" y="2737993"/>
                    <a:pt x="0" y="2628900"/>
                    <a:pt x="0" y="249415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10494" cy="2788793"/>
            </a:xfrm>
            <a:custGeom>
              <a:avLst/>
              <a:gdLst/>
              <a:ahLst/>
              <a:cxnLst/>
              <a:rect r="r" b="b" t="t" l="l"/>
              <a:pathLst>
                <a:path h="2788793" w="10810494">
                  <a:moveTo>
                    <a:pt x="0" y="269240"/>
                  </a:moveTo>
                  <a:cubicBezTo>
                    <a:pt x="0" y="120269"/>
                    <a:pt x="122428" y="0"/>
                    <a:pt x="272669" y="0"/>
                  </a:cubicBezTo>
                  <a:lnTo>
                    <a:pt x="10537825" y="0"/>
                  </a:lnTo>
                  <a:lnTo>
                    <a:pt x="10537825" y="25400"/>
                  </a:lnTo>
                  <a:lnTo>
                    <a:pt x="10537825" y="0"/>
                  </a:lnTo>
                  <a:cubicBezTo>
                    <a:pt x="10688066" y="0"/>
                    <a:pt x="10810494" y="120269"/>
                    <a:pt x="10810494" y="269240"/>
                  </a:cubicBezTo>
                  <a:lnTo>
                    <a:pt x="10785094" y="269240"/>
                  </a:lnTo>
                  <a:lnTo>
                    <a:pt x="10810494" y="269240"/>
                  </a:lnTo>
                  <a:lnTo>
                    <a:pt x="10810494" y="2519553"/>
                  </a:lnTo>
                  <a:lnTo>
                    <a:pt x="10785094" y="2519553"/>
                  </a:lnTo>
                  <a:lnTo>
                    <a:pt x="10810494" y="2519553"/>
                  </a:lnTo>
                  <a:cubicBezTo>
                    <a:pt x="10810494" y="2668524"/>
                    <a:pt x="10688066" y="2788793"/>
                    <a:pt x="10537825" y="2788793"/>
                  </a:cubicBezTo>
                  <a:lnTo>
                    <a:pt x="10537825" y="2763393"/>
                  </a:lnTo>
                  <a:lnTo>
                    <a:pt x="10537825" y="2788793"/>
                  </a:lnTo>
                  <a:lnTo>
                    <a:pt x="272669" y="2788793"/>
                  </a:lnTo>
                  <a:lnTo>
                    <a:pt x="272669" y="2763393"/>
                  </a:lnTo>
                  <a:lnTo>
                    <a:pt x="272669" y="2788793"/>
                  </a:lnTo>
                  <a:cubicBezTo>
                    <a:pt x="122428" y="2788793"/>
                    <a:pt x="0" y="2668651"/>
                    <a:pt x="0" y="251955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19553"/>
                  </a:lnTo>
                  <a:lnTo>
                    <a:pt x="25400" y="2519553"/>
                  </a:lnTo>
                  <a:lnTo>
                    <a:pt x="50800" y="2519553"/>
                  </a:lnTo>
                  <a:cubicBezTo>
                    <a:pt x="50800" y="2639822"/>
                    <a:pt x="149733" y="2737993"/>
                    <a:pt x="272669" y="2737993"/>
                  </a:cubicBezTo>
                  <a:lnTo>
                    <a:pt x="10537825" y="2737993"/>
                  </a:lnTo>
                  <a:cubicBezTo>
                    <a:pt x="10660634" y="2737993"/>
                    <a:pt x="10759694" y="2639822"/>
                    <a:pt x="10759694" y="2519553"/>
                  </a:cubicBezTo>
                  <a:lnTo>
                    <a:pt x="10759694" y="269240"/>
                  </a:lnTo>
                  <a:cubicBezTo>
                    <a:pt x="10759694" y="148971"/>
                    <a:pt x="10660761" y="50800"/>
                    <a:pt x="10537825" y="50800"/>
                  </a:cubicBezTo>
                  <a:lnTo>
                    <a:pt x="272669" y="50800"/>
                  </a:lnTo>
                  <a:lnTo>
                    <a:pt x="272669" y="25400"/>
                  </a:lnTo>
                  <a:lnTo>
                    <a:pt x="272669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240145" y="4013892"/>
            <a:ext cx="152400" cy="2053533"/>
            <a:chOff x="0" y="0"/>
            <a:chExt cx="203200" cy="27380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3200" cy="2737993"/>
            </a:xfrm>
            <a:custGeom>
              <a:avLst/>
              <a:gdLst/>
              <a:ahLst/>
              <a:cxnLst/>
              <a:rect r="r" b="b" t="t" l="l"/>
              <a:pathLst>
                <a:path h="273799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636393"/>
                  </a:lnTo>
                  <a:cubicBezTo>
                    <a:pt x="203200" y="2692527"/>
                    <a:pt x="157734" y="2737993"/>
                    <a:pt x="101600" y="2737993"/>
                  </a:cubicBezTo>
                  <a:cubicBezTo>
                    <a:pt x="45466" y="2737993"/>
                    <a:pt x="0" y="2692527"/>
                    <a:pt x="0" y="2636393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699127" y="4310958"/>
            <a:ext cx="4071642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Temporal Trend Analysis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99127" y="4805953"/>
            <a:ext cx="7342289" cy="95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Analyzes accident variations by hour, day, and season to uncover dangerous time patterns.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0953" y="6316866"/>
            <a:ext cx="8107861" cy="2091633"/>
            <a:chOff x="0" y="0"/>
            <a:chExt cx="10810481" cy="27888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5400" y="25400"/>
              <a:ext cx="10759694" cy="2737993"/>
            </a:xfrm>
            <a:custGeom>
              <a:avLst/>
              <a:gdLst/>
              <a:ahLst/>
              <a:cxnLst/>
              <a:rect r="r" b="b" t="t" l="l"/>
              <a:pathLst>
                <a:path h="2737993" w="10759694">
                  <a:moveTo>
                    <a:pt x="0" y="243840"/>
                  </a:moveTo>
                  <a:cubicBezTo>
                    <a:pt x="0" y="109220"/>
                    <a:pt x="110617" y="0"/>
                    <a:pt x="247269" y="0"/>
                  </a:cubicBezTo>
                  <a:lnTo>
                    <a:pt x="10512425" y="0"/>
                  </a:lnTo>
                  <a:cubicBezTo>
                    <a:pt x="10648950" y="0"/>
                    <a:pt x="10759694" y="109220"/>
                    <a:pt x="10759694" y="243840"/>
                  </a:cubicBezTo>
                  <a:lnTo>
                    <a:pt x="10759694" y="2494153"/>
                  </a:lnTo>
                  <a:cubicBezTo>
                    <a:pt x="10759694" y="2628773"/>
                    <a:pt x="10649077" y="2737993"/>
                    <a:pt x="10512425" y="2737993"/>
                  </a:cubicBezTo>
                  <a:lnTo>
                    <a:pt x="247269" y="2737993"/>
                  </a:lnTo>
                  <a:cubicBezTo>
                    <a:pt x="110617" y="2737993"/>
                    <a:pt x="0" y="2628900"/>
                    <a:pt x="0" y="249415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10494" cy="2788793"/>
            </a:xfrm>
            <a:custGeom>
              <a:avLst/>
              <a:gdLst/>
              <a:ahLst/>
              <a:cxnLst/>
              <a:rect r="r" b="b" t="t" l="l"/>
              <a:pathLst>
                <a:path h="2788793" w="10810494">
                  <a:moveTo>
                    <a:pt x="0" y="269240"/>
                  </a:moveTo>
                  <a:cubicBezTo>
                    <a:pt x="0" y="120269"/>
                    <a:pt x="122428" y="0"/>
                    <a:pt x="272669" y="0"/>
                  </a:cubicBezTo>
                  <a:lnTo>
                    <a:pt x="10537825" y="0"/>
                  </a:lnTo>
                  <a:lnTo>
                    <a:pt x="10537825" y="25400"/>
                  </a:lnTo>
                  <a:lnTo>
                    <a:pt x="10537825" y="0"/>
                  </a:lnTo>
                  <a:cubicBezTo>
                    <a:pt x="10688066" y="0"/>
                    <a:pt x="10810494" y="120269"/>
                    <a:pt x="10810494" y="269240"/>
                  </a:cubicBezTo>
                  <a:lnTo>
                    <a:pt x="10785094" y="269240"/>
                  </a:lnTo>
                  <a:lnTo>
                    <a:pt x="10810494" y="269240"/>
                  </a:lnTo>
                  <a:lnTo>
                    <a:pt x="10810494" y="2519553"/>
                  </a:lnTo>
                  <a:lnTo>
                    <a:pt x="10785094" y="2519553"/>
                  </a:lnTo>
                  <a:lnTo>
                    <a:pt x="10810494" y="2519553"/>
                  </a:lnTo>
                  <a:cubicBezTo>
                    <a:pt x="10810494" y="2668524"/>
                    <a:pt x="10688066" y="2788793"/>
                    <a:pt x="10537825" y="2788793"/>
                  </a:cubicBezTo>
                  <a:lnTo>
                    <a:pt x="10537825" y="2763393"/>
                  </a:lnTo>
                  <a:lnTo>
                    <a:pt x="10537825" y="2788793"/>
                  </a:lnTo>
                  <a:lnTo>
                    <a:pt x="272669" y="2788793"/>
                  </a:lnTo>
                  <a:lnTo>
                    <a:pt x="272669" y="2763393"/>
                  </a:lnTo>
                  <a:lnTo>
                    <a:pt x="272669" y="2788793"/>
                  </a:lnTo>
                  <a:cubicBezTo>
                    <a:pt x="122428" y="2788793"/>
                    <a:pt x="0" y="2668651"/>
                    <a:pt x="0" y="251955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19553"/>
                  </a:lnTo>
                  <a:lnTo>
                    <a:pt x="25400" y="2519553"/>
                  </a:lnTo>
                  <a:lnTo>
                    <a:pt x="50800" y="2519553"/>
                  </a:lnTo>
                  <a:cubicBezTo>
                    <a:pt x="50800" y="2639822"/>
                    <a:pt x="149733" y="2737993"/>
                    <a:pt x="272669" y="2737993"/>
                  </a:cubicBezTo>
                  <a:lnTo>
                    <a:pt x="10537825" y="2737993"/>
                  </a:lnTo>
                  <a:cubicBezTo>
                    <a:pt x="10660634" y="2737993"/>
                    <a:pt x="10759694" y="2639822"/>
                    <a:pt x="10759694" y="2519553"/>
                  </a:cubicBezTo>
                  <a:lnTo>
                    <a:pt x="10759694" y="269240"/>
                  </a:lnTo>
                  <a:cubicBezTo>
                    <a:pt x="10759694" y="148971"/>
                    <a:pt x="10660761" y="50800"/>
                    <a:pt x="10537825" y="50800"/>
                  </a:cubicBezTo>
                  <a:lnTo>
                    <a:pt x="272669" y="50800"/>
                  </a:lnTo>
                  <a:lnTo>
                    <a:pt x="272669" y="25400"/>
                  </a:lnTo>
                  <a:lnTo>
                    <a:pt x="272669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01903" y="6335916"/>
            <a:ext cx="152400" cy="2053533"/>
            <a:chOff x="0" y="0"/>
            <a:chExt cx="203200" cy="27380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3200" cy="2737993"/>
            </a:xfrm>
            <a:custGeom>
              <a:avLst/>
              <a:gdLst/>
              <a:ahLst/>
              <a:cxnLst/>
              <a:rect r="r" b="b" t="t" l="l"/>
              <a:pathLst>
                <a:path h="273799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636393"/>
                  </a:lnTo>
                  <a:cubicBezTo>
                    <a:pt x="203200" y="2692527"/>
                    <a:pt x="157734" y="2737993"/>
                    <a:pt x="101600" y="2737993"/>
                  </a:cubicBezTo>
                  <a:cubicBezTo>
                    <a:pt x="45466" y="2737993"/>
                    <a:pt x="0" y="2692527"/>
                    <a:pt x="0" y="2636393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360884" y="6632972"/>
            <a:ext cx="5136652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Vulnerable Group Identification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0884" y="7127977"/>
            <a:ext cx="7342289" cy="95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Examines victim demographics (age, sex, descent) to pinpoint and protect at-risk populations.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59195" y="6316866"/>
            <a:ext cx="8107861" cy="2091633"/>
            <a:chOff x="0" y="0"/>
            <a:chExt cx="10810481" cy="27888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25400" y="25400"/>
              <a:ext cx="10759694" cy="2737993"/>
            </a:xfrm>
            <a:custGeom>
              <a:avLst/>
              <a:gdLst/>
              <a:ahLst/>
              <a:cxnLst/>
              <a:rect r="r" b="b" t="t" l="l"/>
              <a:pathLst>
                <a:path h="2737993" w="10759694">
                  <a:moveTo>
                    <a:pt x="0" y="243840"/>
                  </a:moveTo>
                  <a:cubicBezTo>
                    <a:pt x="0" y="109220"/>
                    <a:pt x="110617" y="0"/>
                    <a:pt x="247269" y="0"/>
                  </a:cubicBezTo>
                  <a:lnTo>
                    <a:pt x="10512425" y="0"/>
                  </a:lnTo>
                  <a:cubicBezTo>
                    <a:pt x="10648950" y="0"/>
                    <a:pt x="10759694" y="109220"/>
                    <a:pt x="10759694" y="243840"/>
                  </a:cubicBezTo>
                  <a:lnTo>
                    <a:pt x="10759694" y="2494153"/>
                  </a:lnTo>
                  <a:cubicBezTo>
                    <a:pt x="10759694" y="2628773"/>
                    <a:pt x="10649077" y="2737993"/>
                    <a:pt x="10512425" y="2737993"/>
                  </a:cubicBezTo>
                  <a:lnTo>
                    <a:pt x="247269" y="2737993"/>
                  </a:lnTo>
                  <a:cubicBezTo>
                    <a:pt x="110617" y="2737993"/>
                    <a:pt x="0" y="2628900"/>
                    <a:pt x="0" y="249415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810494" cy="2788793"/>
            </a:xfrm>
            <a:custGeom>
              <a:avLst/>
              <a:gdLst/>
              <a:ahLst/>
              <a:cxnLst/>
              <a:rect r="r" b="b" t="t" l="l"/>
              <a:pathLst>
                <a:path h="2788793" w="10810494">
                  <a:moveTo>
                    <a:pt x="0" y="269240"/>
                  </a:moveTo>
                  <a:cubicBezTo>
                    <a:pt x="0" y="120269"/>
                    <a:pt x="122428" y="0"/>
                    <a:pt x="272669" y="0"/>
                  </a:cubicBezTo>
                  <a:lnTo>
                    <a:pt x="10537825" y="0"/>
                  </a:lnTo>
                  <a:lnTo>
                    <a:pt x="10537825" y="25400"/>
                  </a:lnTo>
                  <a:lnTo>
                    <a:pt x="10537825" y="0"/>
                  </a:lnTo>
                  <a:cubicBezTo>
                    <a:pt x="10688066" y="0"/>
                    <a:pt x="10810494" y="120269"/>
                    <a:pt x="10810494" y="269240"/>
                  </a:cubicBezTo>
                  <a:lnTo>
                    <a:pt x="10785094" y="269240"/>
                  </a:lnTo>
                  <a:lnTo>
                    <a:pt x="10810494" y="269240"/>
                  </a:lnTo>
                  <a:lnTo>
                    <a:pt x="10810494" y="2519553"/>
                  </a:lnTo>
                  <a:lnTo>
                    <a:pt x="10785094" y="2519553"/>
                  </a:lnTo>
                  <a:lnTo>
                    <a:pt x="10810494" y="2519553"/>
                  </a:lnTo>
                  <a:cubicBezTo>
                    <a:pt x="10810494" y="2668524"/>
                    <a:pt x="10688066" y="2788793"/>
                    <a:pt x="10537825" y="2788793"/>
                  </a:cubicBezTo>
                  <a:lnTo>
                    <a:pt x="10537825" y="2763393"/>
                  </a:lnTo>
                  <a:lnTo>
                    <a:pt x="10537825" y="2788793"/>
                  </a:lnTo>
                  <a:lnTo>
                    <a:pt x="272669" y="2788793"/>
                  </a:lnTo>
                  <a:lnTo>
                    <a:pt x="272669" y="2763393"/>
                  </a:lnTo>
                  <a:lnTo>
                    <a:pt x="272669" y="2788793"/>
                  </a:lnTo>
                  <a:cubicBezTo>
                    <a:pt x="122428" y="2788793"/>
                    <a:pt x="0" y="2668651"/>
                    <a:pt x="0" y="251955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19553"/>
                  </a:lnTo>
                  <a:lnTo>
                    <a:pt x="25400" y="2519553"/>
                  </a:lnTo>
                  <a:lnTo>
                    <a:pt x="50800" y="2519553"/>
                  </a:lnTo>
                  <a:cubicBezTo>
                    <a:pt x="50800" y="2639822"/>
                    <a:pt x="149733" y="2737993"/>
                    <a:pt x="272669" y="2737993"/>
                  </a:cubicBezTo>
                  <a:lnTo>
                    <a:pt x="10537825" y="2737993"/>
                  </a:lnTo>
                  <a:cubicBezTo>
                    <a:pt x="10660634" y="2737993"/>
                    <a:pt x="10759694" y="2639822"/>
                    <a:pt x="10759694" y="2519553"/>
                  </a:cubicBezTo>
                  <a:lnTo>
                    <a:pt x="10759694" y="269240"/>
                  </a:lnTo>
                  <a:cubicBezTo>
                    <a:pt x="10759694" y="148971"/>
                    <a:pt x="10660761" y="50800"/>
                    <a:pt x="10537825" y="50800"/>
                  </a:cubicBezTo>
                  <a:lnTo>
                    <a:pt x="272669" y="50800"/>
                  </a:lnTo>
                  <a:lnTo>
                    <a:pt x="272669" y="25400"/>
                  </a:lnTo>
                  <a:lnTo>
                    <a:pt x="272669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240145" y="6335916"/>
            <a:ext cx="152400" cy="2053533"/>
            <a:chOff x="0" y="0"/>
            <a:chExt cx="203200" cy="27380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3200" cy="2737993"/>
            </a:xfrm>
            <a:custGeom>
              <a:avLst/>
              <a:gdLst/>
              <a:ahLst/>
              <a:cxnLst/>
              <a:rect r="r" b="b" t="t" l="l"/>
              <a:pathLst>
                <a:path h="273799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636393"/>
                  </a:lnTo>
                  <a:cubicBezTo>
                    <a:pt x="203200" y="2692527"/>
                    <a:pt x="157734" y="2737993"/>
                    <a:pt x="101600" y="2737993"/>
                  </a:cubicBezTo>
                  <a:cubicBezTo>
                    <a:pt x="45466" y="2737993"/>
                    <a:pt x="0" y="2692527"/>
                    <a:pt x="0" y="2636393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9699127" y="6632972"/>
            <a:ext cx="4133402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Predictive Risk Modelling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99127" y="7127977"/>
            <a:ext cx="7342289" cy="95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Offers data-driven planning capabilities by forecasting accident risks for proactive interventions.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0003" y="8596312"/>
            <a:ext cx="16408003" cy="52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makes the project highly relevant for </a:t>
            </a:r>
            <a:r>
              <a:rPr lang="en-US" sz="2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traffic police, urban planners, insurance firms, and public safety departments</a:t>
            </a: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18288000" cy="2884437"/>
          </a:xfrm>
          <a:custGeom>
            <a:avLst/>
            <a:gdLst/>
            <a:ahLst/>
            <a:cxnLst/>
            <a:rect r="r" b="b" t="t" l="l"/>
            <a:pathLst>
              <a:path h="2884437" w="18288000">
                <a:moveTo>
                  <a:pt x="0" y="0"/>
                </a:moveTo>
                <a:lnTo>
                  <a:pt x="18288000" y="0"/>
                </a:lnTo>
                <a:lnTo>
                  <a:pt x="18288000" y="2884437"/>
                </a:lnTo>
                <a:lnTo>
                  <a:pt x="0" y="28844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8" r="0" b="-2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07539" y="3520973"/>
            <a:ext cx="3357858" cy="433683"/>
            <a:chOff x="0" y="0"/>
            <a:chExt cx="4477144" cy="5782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77131" cy="578231"/>
            </a:xfrm>
            <a:custGeom>
              <a:avLst/>
              <a:gdLst/>
              <a:ahLst/>
              <a:cxnLst/>
              <a:rect r="r" b="b" t="t" l="l"/>
              <a:pathLst>
                <a:path h="578231" w="4477131">
                  <a:moveTo>
                    <a:pt x="0" y="103378"/>
                  </a:moveTo>
                  <a:cubicBezTo>
                    <a:pt x="0" y="46228"/>
                    <a:pt x="46228" y="0"/>
                    <a:pt x="103378" y="0"/>
                  </a:cubicBezTo>
                  <a:lnTo>
                    <a:pt x="4373753" y="0"/>
                  </a:lnTo>
                  <a:cubicBezTo>
                    <a:pt x="4430903" y="0"/>
                    <a:pt x="4477131" y="46228"/>
                    <a:pt x="4477131" y="103378"/>
                  </a:cubicBezTo>
                  <a:lnTo>
                    <a:pt x="4477131" y="474853"/>
                  </a:lnTo>
                  <a:cubicBezTo>
                    <a:pt x="4477131" y="532003"/>
                    <a:pt x="4430903" y="578231"/>
                    <a:pt x="4373753" y="578231"/>
                  </a:cubicBezTo>
                  <a:lnTo>
                    <a:pt x="103378" y="578231"/>
                  </a:lnTo>
                  <a:cubicBezTo>
                    <a:pt x="46228" y="578231"/>
                    <a:pt x="0" y="532003"/>
                    <a:pt x="0" y="474853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45947" y="3523507"/>
            <a:ext cx="308104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MODULE 1: DATA PREPROCESSING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7539" y="4037409"/>
            <a:ext cx="14105782" cy="586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62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Foundation of Insight: Data Understanding &amp; Preprocessing (R)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7539" y="5181448"/>
            <a:ext cx="2884437" cy="379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Tasks Involved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7539" y="5724973"/>
            <a:ext cx="8055026" cy="43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Efficiently load large CSV files (~6+ lakh rows).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7539" y="6174877"/>
            <a:ext cx="8055026" cy="43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 robust handling for missing values.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7539" y="6624790"/>
            <a:ext cx="8055026" cy="80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Accurately convert and extract date &amp; time components (Year, Month, Day, Hour buckets).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7539" y="7443940"/>
            <a:ext cx="8055026" cy="43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Clean and standardize victim demographic data.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7539" y="7893844"/>
            <a:ext cx="8055026" cy="43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Convert location data into precise Latitude &amp; Longitude coordinates.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34960" y="5181448"/>
            <a:ext cx="2884437" cy="379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 Concepts Applied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34960" y="5686873"/>
            <a:ext cx="8055026" cy="483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data.table, dplyr, lubridate, stringr for data manipulation.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34960" y="6184402"/>
            <a:ext cx="8055026" cy="43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Advanced feature engineering techniques.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34960" y="6634315"/>
            <a:ext cx="8055026" cy="43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Memory-efficient handling strategies for large datasets.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07539" y="8669979"/>
            <a:ext cx="16672922" cy="980484"/>
            <a:chOff x="0" y="0"/>
            <a:chExt cx="22230563" cy="13073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230589" cy="1307338"/>
            </a:xfrm>
            <a:custGeom>
              <a:avLst/>
              <a:gdLst/>
              <a:ahLst/>
              <a:cxnLst/>
              <a:rect r="r" b="b" t="t" l="l"/>
              <a:pathLst>
                <a:path h="1307338" w="22230589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22101302" y="0"/>
                  </a:lnTo>
                  <a:cubicBezTo>
                    <a:pt x="22172676" y="0"/>
                    <a:pt x="22230589" y="57912"/>
                    <a:pt x="22230589" y="129286"/>
                  </a:cubicBezTo>
                  <a:lnTo>
                    <a:pt x="22230589" y="1178052"/>
                  </a:lnTo>
                  <a:cubicBezTo>
                    <a:pt x="22230589" y="1249426"/>
                    <a:pt x="22172676" y="1307338"/>
                    <a:pt x="22101302" y="1307338"/>
                  </a:cubicBezTo>
                  <a:lnTo>
                    <a:pt x="129286" y="1307338"/>
                  </a:lnTo>
                  <a:cubicBezTo>
                    <a:pt x="57912" y="1307338"/>
                    <a:pt x="0" y="1249426"/>
                    <a:pt x="0" y="1178052"/>
                  </a:cubicBezTo>
                  <a:close/>
                </a:path>
              </a:pathLst>
            </a:custGeom>
            <a:solidFill>
              <a:srgbClr val="C7C9E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3" id="23" descr="preencoded.png"/>
          <p:cNvSpPr/>
          <p:nvPr/>
        </p:nvSpPr>
        <p:spPr>
          <a:xfrm flipH="false" flipV="false" rot="0">
            <a:off x="1038225" y="9013479"/>
            <a:ext cx="288427" cy="230686"/>
          </a:xfrm>
          <a:custGeom>
            <a:avLst/>
            <a:gdLst/>
            <a:ahLst/>
            <a:cxnLst/>
            <a:rect r="r" b="b" t="t" l="l"/>
            <a:pathLst>
              <a:path h="230686" w="288427">
                <a:moveTo>
                  <a:pt x="0" y="0"/>
                </a:moveTo>
                <a:lnTo>
                  <a:pt x="288427" y="0"/>
                </a:lnTo>
                <a:lnTo>
                  <a:pt x="288427" y="230686"/>
                </a:lnTo>
                <a:lnTo>
                  <a:pt x="0" y="230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" r="0" b="-12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57338" y="8891587"/>
            <a:ext cx="15692438" cy="43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module is crucial for robust analysis and accounts for significant marks due to large-scale data handling and complex preprocessing logic.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86876" y="775392"/>
            <a:ext cx="5727497" cy="529981"/>
            <a:chOff x="0" y="0"/>
            <a:chExt cx="7636662" cy="7066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36764" cy="706628"/>
            </a:xfrm>
            <a:custGeom>
              <a:avLst/>
              <a:gdLst/>
              <a:ahLst/>
              <a:cxnLst/>
              <a:rect r="r" b="b" t="t" l="l"/>
              <a:pathLst>
                <a:path h="706628" w="7636764">
                  <a:moveTo>
                    <a:pt x="0" y="126365"/>
                  </a:moveTo>
                  <a:cubicBezTo>
                    <a:pt x="0" y="56515"/>
                    <a:pt x="56515" y="0"/>
                    <a:pt x="126365" y="0"/>
                  </a:cubicBezTo>
                  <a:lnTo>
                    <a:pt x="7510399" y="0"/>
                  </a:lnTo>
                  <a:cubicBezTo>
                    <a:pt x="7580122" y="0"/>
                    <a:pt x="7636764" y="56515"/>
                    <a:pt x="7636764" y="126365"/>
                  </a:cubicBezTo>
                  <a:lnTo>
                    <a:pt x="7636764" y="580263"/>
                  </a:lnTo>
                  <a:cubicBezTo>
                    <a:pt x="7636764" y="649986"/>
                    <a:pt x="7580249" y="706628"/>
                    <a:pt x="7510399" y="706628"/>
                  </a:cubicBezTo>
                  <a:lnTo>
                    <a:pt x="126365" y="706628"/>
                  </a:lnTo>
                  <a:cubicBezTo>
                    <a:pt x="56515" y="706628"/>
                    <a:pt x="0" y="650113"/>
                    <a:pt x="0" y="580263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55944" y="783727"/>
            <a:ext cx="5389359" cy="43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MODULE 2: EXPLORATORY DATA ANALYSIS (EDA)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6876" y="1389459"/>
            <a:ext cx="1325641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Uncovering Patterns: Insight-Driven Storytelling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6876" y="2459984"/>
            <a:ext cx="16314239" cy="53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Exploratory Data Analysis goes beyond simple plots to reveal critical insights into accident trends and characteristics.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6876" y="3736924"/>
            <a:ext cx="5250066" cy="2536927"/>
            <a:chOff x="0" y="0"/>
            <a:chExt cx="7000088" cy="33825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00113" cy="3382518"/>
            </a:xfrm>
            <a:custGeom>
              <a:avLst/>
              <a:gdLst/>
              <a:ahLst/>
              <a:cxnLst/>
              <a:rect r="r" b="b" t="t" l="l"/>
              <a:pathLst>
                <a:path h="3382518" w="7000113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6273" y="0"/>
                  </a:lnTo>
                  <a:cubicBezTo>
                    <a:pt x="6890893" y="0"/>
                    <a:pt x="7000113" y="109220"/>
                    <a:pt x="7000113" y="243840"/>
                  </a:cubicBezTo>
                  <a:lnTo>
                    <a:pt x="7000113" y="3138678"/>
                  </a:lnTo>
                  <a:cubicBezTo>
                    <a:pt x="7000113" y="3273298"/>
                    <a:pt x="6890893" y="3382518"/>
                    <a:pt x="6756273" y="3382518"/>
                  </a:cubicBezTo>
                  <a:lnTo>
                    <a:pt x="243840" y="3382518"/>
                  </a:lnTo>
                  <a:cubicBezTo>
                    <a:pt x="109220" y="3382518"/>
                    <a:pt x="0" y="3273298"/>
                    <a:pt x="0" y="313867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86876" y="3698824"/>
            <a:ext cx="5250066" cy="152400"/>
            <a:chOff x="0" y="0"/>
            <a:chExt cx="7000088" cy="20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00113" cy="203200"/>
            </a:xfrm>
            <a:custGeom>
              <a:avLst/>
              <a:gdLst/>
              <a:ahLst/>
              <a:cxnLst/>
              <a:rect r="r" b="b" t="t" l="l"/>
              <a:pathLst>
                <a:path h="203200" w="7000113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8513" y="0"/>
                  </a:lnTo>
                  <a:cubicBezTo>
                    <a:pt x="6954647" y="0"/>
                    <a:pt x="7000113" y="45466"/>
                    <a:pt x="7000113" y="101600"/>
                  </a:cubicBezTo>
                  <a:cubicBezTo>
                    <a:pt x="7000113" y="157734"/>
                    <a:pt x="6954647" y="203200"/>
                    <a:pt x="6898513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3189018" y="3314109"/>
            <a:ext cx="845791" cy="845791"/>
            <a:chOff x="0" y="0"/>
            <a:chExt cx="1127722" cy="11277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7760" cy="1127760"/>
            </a:xfrm>
            <a:custGeom>
              <a:avLst/>
              <a:gdLst/>
              <a:ahLst/>
              <a:cxnLst/>
              <a:rect r="r" b="b" t="t" l="l"/>
              <a:pathLst>
                <a:path h="1127760" w="1127760">
                  <a:moveTo>
                    <a:pt x="0" y="563880"/>
                  </a:moveTo>
                  <a:cubicBezTo>
                    <a:pt x="0" y="252476"/>
                    <a:pt x="252476" y="0"/>
                    <a:pt x="563880" y="0"/>
                  </a:cubicBezTo>
                  <a:cubicBezTo>
                    <a:pt x="875284" y="0"/>
                    <a:pt x="1127760" y="252476"/>
                    <a:pt x="1127760" y="563880"/>
                  </a:cubicBezTo>
                  <a:cubicBezTo>
                    <a:pt x="1127760" y="875284"/>
                    <a:pt x="875284" y="1127760"/>
                    <a:pt x="563880" y="1127760"/>
                  </a:cubicBezTo>
                  <a:cubicBezTo>
                    <a:pt x="252476" y="1127760"/>
                    <a:pt x="0" y="875284"/>
                    <a:pt x="0" y="563880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7" id="17" descr="preencoded.png"/>
          <p:cNvSpPr/>
          <p:nvPr/>
        </p:nvSpPr>
        <p:spPr>
          <a:xfrm flipH="false" flipV="false" rot="0">
            <a:off x="3442764" y="3567855"/>
            <a:ext cx="338290" cy="338290"/>
          </a:xfrm>
          <a:custGeom>
            <a:avLst/>
            <a:gdLst/>
            <a:ahLst/>
            <a:cxnLst/>
            <a:rect r="r" b="b" t="t" l="l"/>
            <a:pathLst>
              <a:path h="338290" w="338290">
                <a:moveTo>
                  <a:pt x="0" y="0"/>
                </a:moveTo>
                <a:lnTo>
                  <a:pt x="338290" y="0"/>
                </a:lnTo>
                <a:lnTo>
                  <a:pt x="338290" y="338290"/>
                </a:lnTo>
                <a:lnTo>
                  <a:pt x="0" y="3382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334" t="0" r="-8331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06859" y="4422724"/>
            <a:ext cx="3524545" cy="45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Temporal Trends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6859" y="4965649"/>
            <a:ext cx="4610100" cy="98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How have accidents evolved from 2010 to 2025?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518824" y="3736924"/>
            <a:ext cx="5250209" cy="2536927"/>
            <a:chOff x="0" y="0"/>
            <a:chExt cx="7000278" cy="33825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00240" cy="3382518"/>
            </a:xfrm>
            <a:custGeom>
              <a:avLst/>
              <a:gdLst/>
              <a:ahLst/>
              <a:cxnLst/>
              <a:rect r="r" b="b" t="t" l="l"/>
              <a:pathLst>
                <a:path h="3382518" w="70002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6400" y="0"/>
                  </a:lnTo>
                  <a:cubicBezTo>
                    <a:pt x="6891020" y="0"/>
                    <a:pt x="7000240" y="109220"/>
                    <a:pt x="7000240" y="243840"/>
                  </a:cubicBezTo>
                  <a:lnTo>
                    <a:pt x="7000240" y="3138678"/>
                  </a:lnTo>
                  <a:cubicBezTo>
                    <a:pt x="7000240" y="3273298"/>
                    <a:pt x="6891020" y="3382518"/>
                    <a:pt x="6756400" y="3382518"/>
                  </a:cubicBezTo>
                  <a:lnTo>
                    <a:pt x="243840" y="3382518"/>
                  </a:lnTo>
                  <a:cubicBezTo>
                    <a:pt x="109220" y="3382518"/>
                    <a:pt x="0" y="3273298"/>
                    <a:pt x="0" y="313867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518824" y="3698824"/>
            <a:ext cx="5250209" cy="152400"/>
            <a:chOff x="0" y="0"/>
            <a:chExt cx="7000278" cy="203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00240" cy="203200"/>
            </a:xfrm>
            <a:custGeom>
              <a:avLst/>
              <a:gdLst/>
              <a:ahLst/>
              <a:cxnLst/>
              <a:rect r="r" b="b" t="t" l="l"/>
              <a:pathLst>
                <a:path h="203200" w="700024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8640" y="0"/>
                  </a:lnTo>
                  <a:cubicBezTo>
                    <a:pt x="6954774" y="0"/>
                    <a:pt x="7000240" y="45466"/>
                    <a:pt x="7000240" y="101600"/>
                  </a:cubicBezTo>
                  <a:cubicBezTo>
                    <a:pt x="7000240" y="157734"/>
                    <a:pt x="6954774" y="203200"/>
                    <a:pt x="689864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720957" y="3314109"/>
            <a:ext cx="845791" cy="845791"/>
            <a:chOff x="0" y="0"/>
            <a:chExt cx="1127722" cy="112772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27760" cy="1127760"/>
            </a:xfrm>
            <a:custGeom>
              <a:avLst/>
              <a:gdLst/>
              <a:ahLst/>
              <a:cxnLst/>
              <a:rect r="r" b="b" t="t" l="l"/>
              <a:pathLst>
                <a:path h="1127760" w="1127760">
                  <a:moveTo>
                    <a:pt x="0" y="563880"/>
                  </a:moveTo>
                  <a:cubicBezTo>
                    <a:pt x="0" y="252476"/>
                    <a:pt x="252476" y="0"/>
                    <a:pt x="563880" y="0"/>
                  </a:cubicBezTo>
                  <a:cubicBezTo>
                    <a:pt x="875284" y="0"/>
                    <a:pt x="1127760" y="252476"/>
                    <a:pt x="1127760" y="563880"/>
                  </a:cubicBezTo>
                  <a:cubicBezTo>
                    <a:pt x="1127760" y="875284"/>
                    <a:pt x="875284" y="1127760"/>
                    <a:pt x="563880" y="1127760"/>
                  </a:cubicBezTo>
                  <a:cubicBezTo>
                    <a:pt x="252476" y="1127760"/>
                    <a:pt x="0" y="875284"/>
                    <a:pt x="0" y="563880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8974712" y="3567855"/>
            <a:ext cx="338290" cy="338290"/>
          </a:xfrm>
          <a:custGeom>
            <a:avLst/>
            <a:gdLst/>
            <a:ahLst/>
            <a:cxnLst/>
            <a:rect r="r" b="b" t="t" l="l"/>
            <a:pathLst>
              <a:path h="338290" w="338290">
                <a:moveTo>
                  <a:pt x="0" y="0"/>
                </a:moveTo>
                <a:lnTo>
                  <a:pt x="338290" y="0"/>
                </a:lnTo>
                <a:lnTo>
                  <a:pt x="338290" y="338290"/>
                </a:lnTo>
                <a:lnTo>
                  <a:pt x="0" y="338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838798" y="4422724"/>
            <a:ext cx="4103189" cy="45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Geographic Distribution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38798" y="4965649"/>
            <a:ext cx="4610252" cy="98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Which areas experience the highest collision frequencies?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050916" y="3736924"/>
            <a:ext cx="5250209" cy="2536927"/>
            <a:chOff x="0" y="0"/>
            <a:chExt cx="7000278" cy="33825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00240" cy="3382518"/>
            </a:xfrm>
            <a:custGeom>
              <a:avLst/>
              <a:gdLst/>
              <a:ahLst/>
              <a:cxnLst/>
              <a:rect r="r" b="b" t="t" l="l"/>
              <a:pathLst>
                <a:path h="3382518" w="70002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6400" y="0"/>
                  </a:lnTo>
                  <a:cubicBezTo>
                    <a:pt x="6891020" y="0"/>
                    <a:pt x="7000240" y="109220"/>
                    <a:pt x="7000240" y="243840"/>
                  </a:cubicBezTo>
                  <a:lnTo>
                    <a:pt x="7000240" y="3138678"/>
                  </a:lnTo>
                  <a:cubicBezTo>
                    <a:pt x="7000240" y="3273298"/>
                    <a:pt x="6891020" y="3382518"/>
                    <a:pt x="6756400" y="3382518"/>
                  </a:cubicBezTo>
                  <a:lnTo>
                    <a:pt x="243840" y="3382518"/>
                  </a:lnTo>
                  <a:cubicBezTo>
                    <a:pt x="109220" y="3382518"/>
                    <a:pt x="0" y="3273298"/>
                    <a:pt x="0" y="313867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050916" y="3698824"/>
            <a:ext cx="5250209" cy="152400"/>
            <a:chOff x="0" y="0"/>
            <a:chExt cx="7000278" cy="203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00240" cy="203200"/>
            </a:xfrm>
            <a:custGeom>
              <a:avLst/>
              <a:gdLst/>
              <a:ahLst/>
              <a:cxnLst/>
              <a:rect r="r" b="b" t="t" l="l"/>
              <a:pathLst>
                <a:path h="203200" w="700024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8640" y="0"/>
                  </a:lnTo>
                  <a:cubicBezTo>
                    <a:pt x="6954774" y="0"/>
                    <a:pt x="7000240" y="45466"/>
                    <a:pt x="7000240" y="101600"/>
                  </a:cubicBezTo>
                  <a:cubicBezTo>
                    <a:pt x="7000240" y="157734"/>
                    <a:pt x="6954774" y="203200"/>
                    <a:pt x="689864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4253048" y="3314109"/>
            <a:ext cx="845791" cy="845791"/>
            <a:chOff x="0" y="0"/>
            <a:chExt cx="1127722" cy="11277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27760" cy="1127760"/>
            </a:xfrm>
            <a:custGeom>
              <a:avLst/>
              <a:gdLst/>
              <a:ahLst/>
              <a:cxnLst/>
              <a:rect r="r" b="b" t="t" l="l"/>
              <a:pathLst>
                <a:path h="1127760" w="1127760">
                  <a:moveTo>
                    <a:pt x="0" y="563880"/>
                  </a:moveTo>
                  <a:cubicBezTo>
                    <a:pt x="0" y="252476"/>
                    <a:pt x="252476" y="0"/>
                    <a:pt x="563880" y="0"/>
                  </a:cubicBezTo>
                  <a:cubicBezTo>
                    <a:pt x="875284" y="0"/>
                    <a:pt x="1127760" y="252476"/>
                    <a:pt x="1127760" y="563880"/>
                  </a:cubicBezTo>
                  <a:cubicBezTo>
                    <a:pt x="1127760" y="875284"/>
                    <a:pt x="875284" y="1127760"/>
                    <a:pt x="563880" y="1127760"/>
                  </a:cubicBezTo>
                  <a:cubicBezTo>
                    <a:pt x="252476" y="1127760"/>
                    <a:pt x="0" y="875284"/>
                    <a:pt x="0" y="563880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5" id="35" descr="preencoded.png"/>
          <p:cNvSpPr/>
          <p:nvPr/>
        </p:nvSpPr>
        <p:spPr>
          <a:xfrm flipH="false" flipV="false" rot="0">
            <a:off x="14506794" y="3567855"/>
            <a:ext cx="338290" cy="338290"/>
          </a:xfrm>
          <a:custGeom>
            <a:avLst/>
            <a:gdLst/>
            <a:ahLst/>
            <a:cxnLst/>
            <a:rect r="r" b="b" t="t" l="l"/>
            <a:pathLst>
              <a:path h="338290" w="338290">
                <a:moveTo>
                  <a:pt x="0" y="0"/>
                </a:moveTo>
                <a:lnTo>
                  <a:pt x="338290" y="0"/>
                </a:lnTo>
                <a:lnTo>
                  <a:pt x="338290" y="338290"/>
                </a:lnTo>
                <a:lnTo>
                  <a:pt x="0" y="3382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2370889" y="4422724"/>
            <a:ext cx="3524545" cy="45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Time-of-Day Risks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70889" y="4965649"/>
            <a:ext cx="4610252" cy="98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Identifying the most dangerous periods throughout the day.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86876" y="6978548"/>
            <a:ext cx="8016183" cy="2536927"/>
            <a:chOff x="0" y="0"/>
            <a:chExt cx="10688244" cy="338256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688193" cy="3382518"/>
            </a:xfrm>
            <a:custGeom>
              <a:avLst/>
              <a:gdLst/>
              <a:ahLst/>
              <a:cxnLst/>
              <a:rect r="r" b="b" t="t" l="l"/>
              <a:pathLst>
                <a:path h="3382518" w="10688193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44353" y="0"/>
                  </a:lnTo>
                  <a:cubicBezTo>
                    <a:pt x="10578973" y="0"/>
                    <a:pt x="10688193" y="109220"/>
                    <a:pt x="10688193" y="243840"/>
                  </a:cubicBezTo>
                  <a:lnTo>
                    <a:pt x="10688193" y="3138678"/>
                  </a:lnTo>
                  <a:cubicBezTo>
                    <a:pt x="10688193" y="3273298"/>
                    <a:pt x="10578973" y="3382518"/>
                    <a:pt x="10444353" y="3382518"/>
                  </a:cubicBezTo>
                  <a:lnTo>
                    <a:pt x="243840" y="3382518"/>
                  </a:lnTo>
                  <a:cubicBezTo>
                    <a:pt x="109220" y="3382518"/>
                    <a:pt x="0" y="3273298"/>
                    <a:pt x="0" y="313867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86876" y="6940448"/>
            <a:ext cx="8016183" cy="152400"/>
            <a:chOff x="0" y="0"/>
            <a:chExt cx="10688244" cy="203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688193" cy="203200"/>
            </a:xfrm>
            <a:custGeom>
              <a:avLst/>
              <a:gdLst/>
              <a:ahLst/>
              <a:cxnLst/>
              <a:rect r="r" b="b" t="t" l="l"/>
              <a:pathLst>
                <a:path h="203200" w="10688193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586593" y="0"/>
                  </a:lnTo>
                  <a:cubicBezTo>
                    <a:pt x="10642727" y="0"/>
                    <a:pt x="10688193" y="45466"/>
                    <a:pt x="10688193" y="101600"/>
                  </a:cubicBezTo>
                  <a:cubicBezTo>
                    <a:pt x="10688193" y="157734"/>
                    <a:pt x="10642727" y="203200"/>
                    <a:pt x="10586593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4572076" y="6555734"/>
            <a:ext cx="845791" cy="845791"/>
            <a:chOff x="0" y="0"/>
            <a:chExt cx="1127722" cy="112772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7760" cy="1127760"/>
            </a:xfrm>
            <a:custGeom>
              <a:avLst/>
              <a:gdLst/>
              <a:ahLst/>
              <a:cxnLst/>
              <a:rect r="r" b="b" t="t" l="l"/>
              <a:pathLst>
                <a:path h="1127760" w="1127760">
                  <a:moveTo>
                    <a:pt x="0" y="563880"/>
                  </a:moveTo>
                  <a:cubicBezTo>
                    <a:pt x="0" y="252476"/>
                    <a:pt x="252476" y="0"/>
                    <a:pt x="563880" y="0"/>
                  </a:cubicBezTo>
                  <a:cubicBezTo>
                    <a:pt x="875284" y="0"/>
                    <a:pt x="1127760" y="252476"/>
                    <a:pt x="1127760" y="563880"/>
                  </a:cubicBezTo>
                  <a:cubicBezTo>
                    <a:pt x="1127760" y="875284"/>
                    <a:pt x="875284" y="1127760"/>
                    <a:pt x="563880" y="1127760"/>
                  </a:cubicBezTo>
                  <a:cubicBezTo>
                    <a:pt x="252476" y="1127760"/>
                    <a:pt x="0" y="875284"/>
                    <a:pt x="0" y="563880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4" id="44" descr="preencoded.png"/>
          <p:cNvSpPr/>
          <p:nvPr/>
        </p:nvSpPr>
        <p:spPr>
          <a:xfrm flipH="false" flipV="false" rot="0">
            <a:off x="4825822" y="6809480"/>
            <a:ext cx="338290" cy="338290"/>
          </a:xfrm>
          <a:custGeom>
            <a:avLst/>
            <a:gdLst/>
            <a:ahLst/>
            <a:cxnLst/>
            <a:rect r="r" b="b" t="t" l="l"/>
            <a:pathLst>
              <a:path h="338290" w="338290">
                <a:moveTo>
                  <a:pt x="0" y="0"/>
                </a:moveTo>
                <a:lnTo>
                  <a:pt x="338290" y="0"/>
                </a:lnTo>
                <a:lnTo>
                  <a:pt x="338290" y="338290"/>
                </a:lnTo>
                <a:lnTo>
                  <a:pt x="0" y="3382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5555" r="0" b="-5555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306859" y="7664348"/>
            <a:ext cx="3705673" cy="45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Victim Demographics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06859" y="8207273"/>
            <a:ext cx="7376217" cy="98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Understanding the age groups and genders most affected.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284941" y="6978548"/>
            <a:ext cx="8016183" cy="2536927"/>
            <a:chOff x="0" y="0"/>
            <a:chExt cx="10688244" cy="338256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88193" cy="3382518"/>
            </a:xfrm>
            <a:custGeom>
              <a:avLst/>
              <a:gdLst/>
              <a:ahLst/>
              <a:cxnLst/>
              <a:rect r="r" b="b" t="t" l="l"/>
              <a:pathLst>
                <a:path h="3382518" w="10688193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44353" y="0"/>
                  </a:lnTo>
                  <a:cubicBezTo>
                    <a:pt x="10578973" y="0"/>
                    <a:pt x="10688193" y="109220"/>
                    <a:pt x="10688193" y="243840"/>
                  </a:cubicBezTo>
                  <a:lnTo>
                    <a:pt x="10688193" y="3138678"/>
                  </a:lnTo>
                  <a:cubicBezTo>
                    <a:pt x="10688193" y="3273298"/>
                    <a:pt x="10578973" y="3382518"/>
                    <a:pt x="10444353" y="3382518"/>
                  </a:cubicBezTo>
                  <a:lnTo>
                    <a:pt x="243840" y="3382518"/>
                  </a:lnTo>
                  <a:cubicBezTo>
                    <a:pt x="109220" y="3382518"/>
                    <a:pt x="0" y="3273298"/>
                    <a:pt x="0" y="313867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284941" y="6940448"/>
            <a:ext cx="8016183" cy="152400"/>
            <a:chOff x="0" y="0"/>
            <a:chExt cx="10688244" cy="203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688193" cy="203200"/>
            </a:xfrm>
            <a:custGeom>
              <a:avLst/>
              <a:gdLst/>
              <a:ahLst/>
              <a:cxnLst/>
              <a:rect r="r" b="b" t="t" l="l"/>
              <a:pathLst>
                <a:path h="203200" w="10688193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586593" y="0"/>
                  </a:lnTo>
                  <a:cubicBezTo>
                    <a:pt x="10642727" y="0"/>
                    <a:pt x="10688193" y="45466"/>
                    <a:pt x="10688193" y="101600"/>
                  </a:cubicBezTo>
                  <a:cubicBezTo>
                    <a:pt x="10688193" y="157734"/>
                    <a:pt x="10642727" y="203200"/>
                    <a:pt x="10586593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870132" y="6555734"/>
            <a:ext cx="845791" cy="845791"/>
            <a:chOff x="0" y="0"/>
            <a:chExt cx="1127722" cy="112772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27760" cy="1127760"/>
            </a:xfrm>
            <a:custGeom>
              <a:avLst/>
              <a:gdLst/>
              <a:ahLst/>
              <a:cxnLst/>
              <a:rect r="r" b="b" t="t" l="l"/>
              <a:pathLst>
                <a:path h="1127760" w="1127760">
                  <a:moveTo>
                    <a:pt x="0" y="563880"/>
                  </a:moveTo>
                  <a:cubicBezTo>
                    <a:pt x="0" y="252476"/>
                    <a:pt x="252476" y="0"/>
                    <a:pt x="563880" y="0"/>
                  </a:cubicBezTo>
                  <a:cubicBezTo>
                    <a:pt x="875284" y="0"/>
                    <a:pt x="1127760" y="252476"/>
                    <a:pt x="1127760" y="563880"/>
                  </a:cubicBezTo>
                  <a:cubicBezTo>
                    <a:pt x="1127760" y="875284"/>
                    <a:pt x="875284" y="1127760"/>
                    <a:pt x="563880" y="1127760"/>
                  </a:cubicBezTo>
                  <a:cubicBezTo>
                    <a:pt x="252476" y="1127760"/>
                    <a:pt x="0" y="875284"/>
                    <a:pt x="0" y="563880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3" id="53" descr="preencoded.png"/>
          <p:cNvSpPr/>
          <p:nvPr/>
        </p:nvSpPr>
        <p:spPr>
          <a:xfrm flipH="false" flipV="false" rot="0">
            <a:off x="13123888" y="6809480"/>
            <a:ext cx="338290" cy="338290"/>
          </a:xfrm>
          <a:custGeom>
            <a:avLst/>
            <a:gdLst/>
            <a:ahLst/>
            <a:cxnLst/>
            <a:rect r="r" b="b" t="t" l="l"/>
            <a:pathLst>
              <a:path h="338290" w="338290">
                <a:moveTo>
                  <a:pt x="0" y="0"/>
                </a:moveTo>
                <a:lnTo>
                  <a:pt x="338290" y="0"/>
                </a:lnTo>
                <a:lnTo>
                  <a:pt x="338290" y="338290"/>
                </a:lnTo>
                <a:lnTo>
                  <a:pt x="0" y="3382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2779" t="0" r="-2776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9604924" y="7664348"/>
            <a:ext cx="3910755" cy="45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Premise Type Analysis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604924" y="8207273"/>
            <a:ext cx="7376217" cy="98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Assessing risks associated with different premise types (street, parking, etc.).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18288000" cy="3078509"/>
          </a:xfrm>
          <a:custGeom>
            <a:avLst/>
            <a:gdLst/>
            <a:ahLst/>
            <a:cxnLst/>
            <a:rect r="r" b="b" t="t" l="l"/>
            <a:pathLst>
              <a:path h="3078509" w="18288000">
                <a:moveTo>
                  <a:pt x="0" y="0"/>
                </a:moveTo>
                <a:lnTo>
                  <a:pt x="18288000" y="0"/>
                </a:lnTo>
                <a:lnTo>
                  <a:pt x="18288000" y="3078509"/>
                </a:lnTo>
                <a:lnTo>
                  <a:pt x="0" y="30785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" t="0" r="-31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61860" y="3755679"/>
            <a:ext cx="3234328" cy="462858"/>
            <a:chOff x="0" y="0"/>
            <a:chExt cx="4312437" cy="6171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12412" cy="617220"/>
            </a:xfrm>
            <a:custGeom>
              <a:avLst/>
              <a:gdLst/>
              <a:ahLst/>
              <a:cxnLst/>
              <a:rect r="r" b="b" t="t" l="l"/>
              <a:pathLst>
                <a:path h="617220" w="4312412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4202049" y="0"/>
                  </a:lnTo>
                  <a:cubicBezTo>
                    <a:pt x="4263009" y="0"/>
                    <a:pt x="4312412" y="49403"/>
                    <a:pt x="4312412" y="110363"/>
                  </a:cubicBezTo>
                  <a:lnTo>
                    <a:pt x="4312412" y="506857"/>
                  </a:lnTo>
                  <a:cubicBezTo>
                    <a:pt x="4312412" y="567817"/>
                    <a:pt x="4263009" y="617220"/>
                    <a:pt x="4202049" y="617220"/>
                  </a:cubicBezTo>
                  <a:lnTo>
                    <a:pt x="110363" y="617220"/>
                  </a:lnTo>
                  <a:cubicBezTo>
                    <a:pt x="49403" y="617093"/>
                    <a:pt x="0" y="567690"/>
                    <a:pt x="0" y="506857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09498" y="3762823"/>
            <a:ext cx="2939053" cy="38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MODULE 3: SPATIAL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1860" y="4297861"/>
            <a:ext cx="10492530" cy="63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7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Pinpointing Risk: Spatial &amp; Hotspot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1860" y="5225806"/>
            <a:ext cx="16564270" cy="47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Utilizing precise geographic data to identify and prioritize high-risk zones, mirroring real-world city planning tools.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1860" y="6200184"/>
            <a:ext cx="3078509" cy="403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Core Activities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860" y="6774066"/>
            <a:ext cx="7981798" cy="47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062"/>
              </a:lnSpc>
              <a:buFont typeface="Arial"/>
              <a:buChar char="•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Identification of accident hotspots.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1860" y="7254326"/>
            <a:ext cx="7981798" cy="47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062"/>
              </a:lnSpc>
              <a:buFont typeface="Arial"/>
              <a:buChar char="•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Clustering of high-risk zones for targeted interventions.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1860" y="7734595"/>
            <a:ext cx="7981798" cy="47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062"/>
              </a:lnSpc>
              <a:buFont typeface="Arial"/>
              <a:buChar char="•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Ranking areas based on accident severity and frequency.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53858" y="6200184"/>
            <a:ext cx="3312319" cy="403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Techniques Employed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53858" y="6774066"/>
            <a:ext cx="7981798" cy="47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062"/>
              </a:lnSpc>
              <a:buFont typeface="Arial"/>
              <a:buChar char="•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Density-based grouping algorithms.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53858" y="7254326"/>
            <a:ext cx="7981798" cy="47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062"/>
              </a:lnSpc>
              <a:buFont typeface="Arial"/>
              <a:buChar char="•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Calculation of accident counts per square region.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53858" y="7734595"/>
            <a:ext cx="7981798" cy="47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062"/>
              </a:lnSpc>
              <a:buFont typeface="Arial"/>
              <a:buChar char="•"/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Using MO codes as a proxy for accident severity.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61860" y="8568033"/>
            <a:ext cx="16564270" cy="1046407"/>
            <a:chOff x="0" y="0"/>
            <a:chExt cx="22085694" cy="13952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085681" cy="1395222"/>
            </a:xfrm>
            <a:custGeom>
              <a:avLst/>
              <a:gdLst/>
              <a:ahLst/>
              <a:cxnLst/>
              <a:rect r="r" b="b" t="t" l="l"/>
              <a:pathLst>
                <a:path h="1395222" w="22085681">
                  <a:moveTo>
                    <a:pt x="0" y="137922"/>
                  </a:moveTo>
                  <a:cubicBezTo>
                    <a:pt x="0" y="61722"/>
                    <a:pt x="61722" y="0"/>
                    <a:pt x="137922" y="0"/>
                  </a:cubicBezTo>
                  <a:lnTo>
                    <a:pt x="21947760" y="0"/>
                  </a:lnTo>
                  <a:cubicBezTo>
                    <a:pt x="22023960" y="0"/>
                    <a:pt x="22085681" y="61722"/>
                    <a:pt x="22085681" y="137922"/>
                  </a:cubicBezTo>
                  <a:lnTo>
                    <a:pt x="22085681" y="1257300"/>
                  </a:lnTo>
                  <a:cubicBezTo>
                    <a:pt x="22085681" y="1333500"/>
                    <a:pt x="22023960" y="1395222"/>
                    <a:pt x="21947760" y="1395222"/>
                  </a:cubicBezTo>
                  <a:lnTo>
                    <a:pt x="137922" y="1395222"/>
                  </a:lnTo>
                  <a:cubicBezTo>
                    <a:pt x="61722" y="1395222"/>
                    <a:pt x="0" y="1333500"/>
                    <a:pt x="0" y="1257300"/>
                  </a:cubicBezTo>
                  <a:close/>
                </a:path>
              </a:pathLst>
            </a:custGeom>
            <a:solidFill>
              <a:srgbClr val="C7C9E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1108024" y="8945909"/>
            <a:ext cx="307772" cy="246164"/>
          </a:xfrm>
          <a:custGeom>
            <a:avLst/>
            <a:gdLst/>
            <a:ahLst/>
            <a:cxnLst/>
            <a:rect r="r" b="b" t="t" l="l"/>
            <a:pathLst>
              <a:path h="246164" w="307772">
                <a:moveTo>
                  <a:pt x="0" y="0"/>
                </a:moveTo>
                <a:lnTo>
                  <a:pt x="307772" y="0"/>
                </a:lnTo>
                <a:lnTo>
                  <a:pt x="307772" y="246164"/>
                </a:lnTo>
                <a:lnTo>
                  <a:pt x="0" y="246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93" r="0" b="-793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61960" y="8799462"/>
            <a:ext cx="15518016" cy="47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high-value module demonstrates practical application in urban planning and emergency services.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994915"/>
            <a:ext cx="4241597" cy="532809"/>
            <a:chOff x="0" y="0"/>
            <a:chExt cx="5655462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55437" cy="710438"/>
            </a:xfrm>
            <a:custGeom>
              <a:avLst/>
              <a:gdLst/>
              <a:ahLst/>
              <a:cxnLst/>
              <a:rect r="r" b="b" t="t" l="l"/>
              <a:pathLst>
                <a:path h="710438" w="5655437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5528437" y="0"/>
                  </a:lnTo>
                  <a:cubicBezTo>
                    <a:pt x="5598541" y="0"/>
                    <a:pt x="5655437" y="56896"/>
                    <a:pt x="5655437" y="127000"/>
                  </a:cubicBezTo>
                  <a:lnTo>
                    <a:pt x="5655437" y="583438"/>
                  </a:lnTo>
                  <a:cubicBezTo>
                    <a:pt x="5655437" y="653542"/>
                    <a:pt x="5598541" y="710438"/>
                    <a:pt x="5528437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1003697"/>
            <a:ext cx="3901383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MODULE 4: PREDICTIVE MODELING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612554"/>
            <a:ext cx="14359385" cy="7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Beyond Analysis: Advanced Predictive Modeling (R)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689327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Elevating the project from good to excellent with robust predictive analytics for proactive safety measures.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812086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Prediction Goals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471835"/>
            <a:ext cx="3556997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Accident Risk Level: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Classifying locations and times into Low, Medium, or High-risk categories.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839102"/>
            <a:ext cx="3556997" cy="235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Expected Accident Count: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Forecasting the number of accidents for specific area and time combinations.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50504" y="3812086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50504" y="4471835"/>
            <a:ext cx="3556997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Area ID, Hour, Day, Month, Premise Code, Victim Age Group.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50504" y="5931846"/>
            <a:ext cx="3556997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Incorporation of historical accident frequency data.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08779" y="3812086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Models Utilised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08779" y="4471835"/>
            <a:ext cx="3556997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Logistic Regression (baseline for comparison).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08779" y="5931846"/>
            <a:ext cx="3556997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Random Forest for enhanced accuracy and feature importance.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08779" y="7845476"/>
            <a:ext cx="355699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Decision Tree for interpretability.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67044" y="3812086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Evaluation Metrics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67044" y="4471835"/>
            <a:ext cx="3556997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Accuracy, Confusion Matrix, and Feature Importance to validate model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90575" y="1672228"/>
            <a:ext cx="3354143" cy="424453"/>
            <a:chOff x="0" y="0"/>
            <a:chExt cx="4472191" cy="5659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72178" cy="565912"/>
            </a:xfrm>
            <a:custGeom>
              <a:avLst/>
              <a:gdLst/>
              <a:ahLst/>
              <a:cxnLst/>
              <a:rect r="r" b="b" t="t" l="l"/>
              <a:pathLst>
                <a:path h="565912" w="4472178">
                  <a:moveTo>
                    <a:pt x="0" y="101219"/>
                  </a:moveTo>
                  <a:cubicBezTo>
                    <a:pt x="0" y="45339"/>
                    <a:pt x="45339" y="0"/>
                    <a:pt x="101219" y="0"/>
                  </a:cubicBezTo>
                  <a:lnTo>
                    <a:pt x="4370959" y="0"/>
                  </a:lnTo>
                  <a:cubicBezTo>
                    <a:pt x="4426839" y="0"/>
                    <a:pt x="4472178" y="45339"/>
                    <a:pt x="4472178" y="101219"/>
                  </a:cubicBezTo>
                  <a:lnTo>
                    <a:pt x="4472178" y="464693"/>
                  </a:lnTo>
                  <a:cubicBezTo>
                    <a:pt x="4472178" y="520573"/>
                    <a:pt x="4426839" y="565912"/>
                    <a:pt x="4370959" y="565912"/>
                  </a:cubicBezTo>
                  <a:lnTo>
                    <a:pt x="101219" y="565912"/>
                  </a:lnTo>
                  <a:cubicBezTo>
                    <a:pt x="45339" y="565912"/>
                    <a:pt x="0" y="520573"/>
                    <a:pt x="0" y="464693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926011" y="1682801"/>
            <a:ext cx="3083271" cy="346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MODULE 5: POWER BI DASHBOARD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0575" y="2158451"/>
            <a:ext cx="11761441" cy="59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Interactive Insights: Professional-Grade Visualization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0575" y="3014072"/>
            <a:ext cx="16706850" cy="43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Power BI Dashboard provides intuitive and interactive visualizations for an engaging user experience, crucial for policymakers and the public.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800100" y="3853015"/>
            <a:ext cx="5570934" cy="2710453"/>
          </a:xfrm>
          <a:custGeom>
            <a:avLst/>
            <a:gdLst/>
            <a:ahLst/>
            <a:cxnLst/>
            <a:rect r="r" b="b" t="t" l="l"/>
            <a:pathLst>
              <a:path h="2710453" w="5570934">
                <a:moveTo>
                  <a:pt x="0" y="0"/>
                </a:moveTo>
                <a:lnTo>
                  <a:pt x="5570934" y="0"/>
                </a:lnTo>
                <a:lnTo>
                  <a:pt x="5570934" y="2710453"/>
                </a:lnTo>
                <a:lnTo>
                  <a:pt x="0" y="2710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6" r="0" b="-66"/>
            </a:stretch>
          </a:blipFill>
        </p:spPr>
      </p:sp>
      <p:sp>
        <p:nvSpPr>
          <p:cNvPr name="Freeform 12" id="12" descr="preencoded.png"/>
          <p:cNvSpPr/>
          <p:nvPr/>
        </p:nvSpPr>
        <p:spPr>
          <a:xfrm flipH="false" flipV="false" rot="0">
            <a:off x="6551714" y="3853015"/>
            <a:ext cx="5218509" cy="2710453"/>
          </a:xfrm>
          <a:custGeom>
            <a:avLst/>
            <a:gdLst/>
            <a:ahLst/>
            <a:cxnLst/>
            <a:rect r="r" b="b" t="t" l="l"/>
            <a:pathLst>
              <a:path h="2710453" w="5218509">
                <a:moveTo>
                  <a:pt x="0" y="0"/>
                </a:moveTo>
                <a:lnTo>
                  <a:pt x="5218509" y="0"/>
                </a:lnTo>
                <a:lnTo>
                  <a:pt x="5218509" y="2710453"/>
                </a:lnTo>
                <a:lnTo>
                  <a:pt x="0" y="2710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5" r="0" b="-65"/>
            </a:stretch>
          </a:blipFill>
        </p:spPr>
      </p:sp>
      <p:sp>
        <p:nvSpPr>
          <p:cNvPr name="Freeform 13" id="13" descr="preencoded.png"/>
          <p:cNvSpPr/>
          <p:nvPr/>
        </p:nvSpPr>
        <p:spPr>
          <a:xfrm flipH="false" flipV="false" rot="0">
            <a:off x="11950903" y="3853015"/>
            <a:ext cx="5536997" cy="2710453"/>
          </a:xfrm>
          <a:custGeom>
            <a:avLst/>
            <a:gdLst/>
            <a:ahLst/>
            <a:cxnLst/>
            <a:rect r="r" b="b" t="t" l="l"/>
            <a:pathLst>
              <a:path h="2710453" w="5536997">
                <a:moveTo>
                  <a:pt x="0" y="0"/>
                </a:moveTo>
                <a:lnTo>
                  <a:pt x="5536997" y="0"/>
                </a:lnTo>
                <a:lnTo>
                  <a:pt x="5536997" y="2710453"/>
                </a:lnTo>
                <a:lnTo>
                  <a:pt x="0" y="2710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3" r="0" b="-104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85812" y="6960098"/>
            <a:ext cx="517627" cy="517627"/>
            <a:chOff x="0" y="0"/>
            <a:chExt cx="690169" cy="6901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677418" cy="677418"/>
            </a:xfrm>
            <a:custGeom>
              <a:avLst/>
              <a:gdLst/>
              <a:ahLst/>
              <a:cxnLst/>
              <a:rect r="r" b="b" t="t" l="l"/>
              <a:pathLst>
                <a:path h="677418" w="677418">
                  <a:moveTo>
                    <a:pt x="0" y="126492"/>
                  </a:moveTo>
                  <a:cubicBezTo>
                    <a:pt x="0" y="56642"/>
                    <a:pt x="56642" y="0"/>
                    <a:pt x="126492" y="0"/>
                  </a:cubicBezTo>
                  <a:lnTo>
                    <a:pt x="550926" y="0"/>
                  </a:lnTo>
                  <a:cubicBezTo>
                    <a:pt x="620776" y="0"/>
                    <a:pt x="677418" y="56642"/>
                    <a:pt x="677418" y="126492"/>
                  </a:cubicBezTo>
                  <a:lnTo>
                    <a:pt x="677418" y="550926"/>
                  </a:lnTo>
                  <a:cubicBezTo>
                    <a:pt x="677418" y="620776"/>
                    <a:pt x="620776" y="677418"/>
                    <a:pt x="550926" y="677418"/>
                  </a:cubicBezTo>
                  <a:lnTo>
                    <a:pt x="126492" y="677418"/>
                  </a:lnTo>
                  <a:cubicBezTo>
                    <a:pt x="56642" y="677418"/>
                    <a:pt x="0" y="620776"/>
                    <a:pt x="0" y="550926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0118" cy="690118"/>
            </a:xfrm>
            <a:custGeom>
              <a:avLst/>
              <a:gdLst/>
              <a:ahLst/>
              <a:cxnLst/>
              <a:rect r="r" b="b" t="t" l="l"/>
              <a:pathLst>
                <a:path h="690118" w="690118">
                  <a:moveTo>
                    <a:pt x="0" y="132842"/>
                  </a:moveTo>
                  <a:cubicBezTo>
                    <a:pt x="0" y="59436"/>
                    <a:pt x="59436" y="0"/>
                    <a:pt x="132842" y="0"/>
                  </a:cubicBezTo>
                  <a:lnTo>
                    <a:pt x="557276" y="0"/>
                  </a:lnTo>
                  <a:lnTo>
                    <a:pt x="557276" y="6350"/>
                  </a:lnTo>
                  <a:lnTo>
                    <a:pt x="557276" y="0"/>
                  </a:lnTo>
                  <a:cubicBezTo>
                    <a:pt x="630682" y="0"/>
                    <a:pt x="690118" y="59436"/>
                    <a:pt x="690118" y="132842"/>
                  </a:cubicBezTo>
                  <a:lnTo>
                    <a:pt x="683768" y="132842"/>
                  </a:lnTo>
                  <a:lnTo>
                    <a:pt x="690118" y="132842"/>
                  </a:lnTo>
                  <a:lnTo>
                    <a:pt x="690118" y="557276"/>
                  </a:lnTo>
                  <a:lnTo>
                    <a:pt x="683768" y="557276"/>
                  </a:lnTo>
                  <a:lnTo>
                    <a:pt x="690118" y="557276"/>
                  </a:lnTo>
                  <a:cubicBezTo>
                    <a:pt x="690118" y="630682"/>
                    <a:pt x="630682" y="690118"/>
                    <a:pt x="557276" y="690118"/>
                  </a:cubicBezTo>
                  <a:lnTo>
                    <a:pt x="557276" y="683768"/>
                  </a:lnTo>
                  <a:lnTo>
                    <a:pt x="557276" y="690118"/>
                  </a:lnTo>
                  <a:lnTo>
                    <a:pt x="132842" y="690118"/>
                  </a:lnTo>
                  <a:lnTo>
                    <a:pt x="132842" y="683768"/>
                  </a:lnTo>
                  <a:lnTo>
                    <a:pt x="132842" y="690118"/>
                  </a:lnTo>
                  <a:cubicBezTo>
                    <a:pt x="59436" y="690118"/>
                    <a:pt x="0" y="630682"/>
                    <a:pt x="0" y="557276"/>
                  </a:cubicBezTo>
                  <a:lnTo>
                    <a:pt x="0" y="132842"/>
                  </a:lnTo>
                  <a:lnTo>
                    <a:pt x="6350" y="132842"/>
                  </a:lnTo>
                  <a:lnTo>
                    <a:pt x="0" y="132842"/>
                  </a:lnTo>
                  <a:moveTo>
                    <a:pt x="12700" y="132842"/>
                  </a:moveTo>
                  <a:lnTo>
                    <a:pt x="12700" y="557276"/>
                  </a:lnTo>
                  <a:lnTo>
                    <a:pt x="6350" y="557276"/>
                  </a:lnTo>
                  <a:lnTo>
                    <a:pt x="12700" y="557276"/>
                  </a:lnTo>
                  <a:cubicBezTo>
                    <a:pt x="12700" y="623570"/>
                    <a:pt x="66548" y="677418"/>
                    <a:pt x="132842" y="677418"/>
                  </a:cubicBezTo>
                  <a:lnTo>
                    <a:pt x="557276" y="677418"/>
                  </a:lnTo>
                  <a:cubicBezTo>
                    <a:pt x="623570" y="677418"/>
                    <a:pt x="677418" y="623570"/>
                    <a:pt x="677418" y="557276"/>
                  </a:cubicBezTo>
                  <a:lnTo>
                    <a:pt x="677418" y="132842"/>
                  </a:lnTo>
                  <a:cubicBezTo>
                    <a:pt x="677418" y="66548"/>
                    <a:pt x="623697" y="12700"/>
                    <a:pt x="557276" y="12700"/>
                  </a:cubicBezTo>
                  <a:lnTo>
                    <a:pt x="132842" y="12700"/>
                  </a:lnTo>
                  <a:lnTo>
                    <a:pt x="132842" y="6350"/>
                  </a:lnTo>
                  <a:lnTo>
                    <a:pt x="132842" y="12700"/>
                  </a:lnTo>
                  <a:cubicBezTo>
                    <a:pt x="66548" y="12700"/>
                    <a:pt x="12700" y="66548"/>
                    <a:pt x="12700" y="132842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875262" y="7054825"/>
            <a:ext cx="338728" cy="37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62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24448" y="7032869"/>
            <a:ext cx="3093834" cy="362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Comprehensive Pages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24448" y="7454503"/>
            <a:ext cx="4646857" cy="116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Overview, Time Analysis, Location Intelligence, Victim Demographics, and Prediction Insights.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448873" y="6960098"/>
            <a:ext cx="517627" cy="517627"/>
            <a:chOff x="0" y="0"/>
            <a:chExt cx="690169" cy="6901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677418" cy="677418"/>
            </a:xfrm>
            <a:custGeom>
              <a:avLst/>
              <a:gdLst/>
              <a:ahLst/>
              <a:cxnLst/>
              <a:rect r="r" b="b" t="t" l="l"/>
              <a:pathLst>
                <a:path h="677418" w="677418">
                  <a:moveTo>
                    <a:pt x="0" y="126492"/>
                  </a:moveTo>
                  <a:cubicBezTo>
                    <a:pt x="0" y="56642"/>
                    <a:pt x="56642" y="0"/>
                    <a:pt x="126492" y="0"/>
                  </a:cubicBezTo>
                  <a:lnTo>
                    <a:pt x="550926" y="0"/>
                  </a:lnTo>
                  <a:cubicBezTo>
                    <a:pt x="620776" y="0"/>
                    <a:pt x="677418" y="56642"/>
                    <a:pt x="677418" y="126492"/>
                  </a:cubicBezTo>
                  <a:lnTo>
                    <a:pt x="677418" y="550926"/>
                  </a:lnTo>
                  <a:cubicBezTo>
                    <a:pt x="677418" y="620776"/>
                    <a:pt x="620776" y="677418"/>
                    <a:pt x="550926" y="677418"/>
                  </a:cubicBezTo>
                  <a:lnTo>
                    <a:pt x="126492" y="677418"/>
                  </a:lnTo>
                  <a:cubicBezTo>
                    <a:pt x="56642" y="677418"/>
                    <a:pt x="0" y="620776"/>
                    <a:pt x="0" y="550926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0118" cy="690118"/>
            </a:xfrm>
            <a:custGeom>
              <a:avLst/>
              <a:gdLst/>
              <a:ahLst/>
              <a:cxnLst/>
              <a:rect r="r" b="b" t="t" l="l"/>
              <a:pathLst>
                <a:path h="690118" w="690118">
                  <a:moveTo>
                    <a:pt x="0" y="132842"/>
                  </a:moveTo>
                  <a:cubicBezTo>
                    <a:pt x="0" y="59436"/>
                    <a:pt x="59436" y="0"/>
                    <a:pt x="132842" y="0"/>
                  </a:cubicBezTo>
                  <a:lnTo>
                    <a:pt x="557276" y="0"/>
                  </a:lnTo>
                  <a:lnTo>
                    <a:pt x="557276" y="6350"/>
                  </a:lnTo>
                  <a:lnTo>
                    <a:pt x="557276" y="0"/>
                  </a:lnTo>
                  <a:cubicBezTo>
                    <a:pt x="630682" y="0"/>
                    <a:pt x="690118" y="59436"/>
                    <a:pt x="690118" y="132842"/>
                  </a:cubicBezTo>
                  <a:lnTo>
                    <a:pt x="683768" y="132842"/>
                  </a:lnTo>
                  <a:lnTo>
                    <a:pt x="690118" y="132842"/>
                  </a:lnTo>
                  <a:lnTo>
                    <a:pt x="690118" y="557276"/>
                  </a:lnTo>
                  <a:lnTo>
                    <a:pt x="683768" y="557276"/>
                  </a:lnTo>
                  <a:lnTo>
                    <a:pt x="690118" y="557276"/>
                  </a:lnTo>
                  <a:cubicBezTo>
                    <a:pt x="690118" y="630682"/>
                    <a:pt x="630682" y="690118"/>
                    <a:pt x="557276" y="690118"/>
                  </a:cubicBezTo>
                  <a:lnTo>
                    <a:pt x="557276" y="683768"/>
                  </a:lnTo>
                  <a:lnTo>
                    <a:pt x="557276" y="690118"/>
                  </a:lnTo>
                  <a:lnTo>
                    <a:pt x="132842" y="690118"/>
                  </a:lnTo>
                  <a:lnTo>
                    <a:pt x="132842" y="683768"/>
                  </a:lnTo>
                  <a:lnTo>
                    <a:pt x="132842" y="690118"/>
                  </a:lnTo>
                  <a:cubicBezTo>
                    <a:pt x="59436" y="690118"/>
                    <a:pt x="0" y="630682"/>
                    <a:pt x="0" y="557276"/>
                  </a:cubicBezTo>
                  <a:lnTo>
                    <a:pt x="0" y="132842"/>
                  </a:lnTo>
                  <a:lnTo>
                    <a:pt x="6350" y="132842"/>
                  </a:lnTo>
                  <a:lnTo>
                    <a:pt x="0" y="132842"/>
                  </a:lnTo>
                  <a:moveTo>
                    <a:pt x="12700" y="132842"/>
                  </a:moveTo>
                  <a:lnTo>
                    <a:pt x="12700" y="557276"/>
                  </a:lnTo>
                  <a:lnTo>
                    <a:pt x="6350" y="557276"/>
                  </a:lnTo>
                  <a:lnTo>
                    <a:pt x="12700" y="557276"/>
                  </a:lnTo>
                  <a:cubicBezTo>
                    <a:pt x="12700" y="623570"/>
                    <a:pt x="66548" y="677418"/>
                    <a:pt x="132842" y="677418"/>
                  </a:cubicBezTo>
                  <a:lnTo>
                    <a:pt x="557276" y="677418"/>
                  </a:lnTo>
                  <a:cubicBezTo>
                    <a:pt x="623570" y="677418"/>
                    <a:pt x="677418" y="623570"/>
                    <a:pt x="677418" y="557276"/>
                  </a:cubicBezTo>
                  <a:lnTo>
                    <a:pt x="677418" y="132842"/>
                  </a:lnTo>
                  <a:cubicBezTo>
                    <a:pt x="677418" y="66548"/>
                    <a:pt x="623697" y="12700"/>
                    <a:pt x="557276" y="12700"/>
                  </a:cubicBezTo>
                  <a:lnTo>
                    <a:pt x="132842" y="12700"/>
                  </a:lnTo>
                  <a:lnTo>
                    <a:pt x="132842" y="6350"/>
                  </a:lnTo>
                  <a:lnTo>
                    <a:pt x="132842" y="12700"/>
                  </a:lnTo>
                  <a:cubicBezTo>
                    <a:pt x="66548" y="12700"/>
                    <a:pt x="12700" y="66548"/>
                    <a:pt x="12700" y="132842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6538322" y="7054825"/>
            <a:ext cx="338728" cy="37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62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87508" y="7032869"/>
            <a:ext cx="2823420" cy="362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Dynamic Filters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87508" y="7454503"/>
            <a:ext cx="4646857" cy="798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Enables users to filter data by year, area, and other key parameters.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111933" y="6960098"/>
            <a:ext cx="517627" cy="517627"/>
            <a:chOff x="0" y="0"/>
            <a:chExt cx="690169" cy="6901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" y="6350"/>
              <a:ext cx="677418" cy="677418"/>
            </a:xfrm>
            <a:custGeom>
              <a:avLst/>
              <a:gdLst/>
              <a:ahLst/>
              <a:cxnLst/>
              <a:rect r="r" b="b" t="t" l="l"/>
              <a:pathLst>
                <a:path h="677418" w="677418">
                  <a:moveTo>
                    <a:pt x="0" y="126492"/>
                  </a:moveTo>
                  <a:cubicBezTo>
                    <a:pt x="0" y="56642"/>
                    <a:pt x="56642" y="0"/>
                    <a:pt x="126492" y="0"/>
                  </a:cubicBezTo>
                  <a:lnTo>
                    <a:pt x="550926" y="0"/>
                  </a:lnTo>
                  <a:cubicBezTo>
                    <a:pt x="620776" y="0"/>
                    <a:pt x="677418" y="56642"/>
                    <a:pt x="677418" y="126492"/>
                  </a:cubicBezTo>
                  <a:lnTo>
                    <a:pt x="677418" y="550926"/>
                  </a:lnTo>
                  <a:cubicBezTo>
                    <a:pt x="677418" y="620776"/>
                    <a:pt x="620776" y="677418"/>
                    <a:pt x="550926" y="677418"/>
                  </a:cubicBezTo>
                  <a:lnTo>
                    <a:pt x="126492" y="677418"/>
                  </a:lnTo>
                  <a:cubicBezTo>
                    <a:pt x="56642" y="677418"/>
                    <a:pt x="0" y="620776"/>
                    <a:pt x="0" y="550926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0118" cy="690118"/>
            </a:xfrm>
            <a:custGeom>
              <a:avLst/>
              <a:gdLst/>
              <a:ahLst/>
              <a:cxnLst/>
              <a:rect r="r" b="b" t="t" l="l"/>
              <a:pathLst>
                <a:path h="690118" w="690118">
                  <a:moveTo>
                    <a:pt x="0" y="132842"/>
                  </a:moveTo>
                  <a:cubicBezTo>
                    <a:pt x="0" y="59436"/>
                    <a:pt x="59436" y="0"/>
                    <a:pt x="132842" y="0"/>
                  </a:cubicBezTo>
                  <a:lnTo>
                    <a:pt x="557276" y="0"/>
                  </a:lnTo>
                  <a:lnTo>
                    <a:pt x="557276" y="6350"/>
                  </a:lnTo>
                  <a:lnTo>
                    <a:pt x="557276" y="0"/>
                  </a:lnTo>
                  <a:cubicBezTo>
                    <a:pt x="630682" y="0"/>
                    <a:pt x="690118" y="59436"/>
                    <a:pt x="690118" y="132842"/>
                  </a:cubicBezTo>
                  <a:lnTo>
                    <a:pt x="683768" y="132842"/>
                  </a:lnTo>
                  <a:lnTo>
                    <a:pt x="690118" y="132842"/>
                  </a:lnTo>
                  <a:lnTo>
                    <a:pt x="690118" y="557276"/>
                  </a:lnTo>
                  <a:lnTo>
                    <a:pt x="683768" y="557276"/>
                  </a:lnTo>
                  <a:lnTo>
                    <a:pt x="690118" y="557276"/>
                  </a:lnTo>
                  <a:cubicBezTo>
                    <a:pt x="690118" y="630682"/>
                    <a:pt x="630682" y="690118"/>
                    <a:pt x="557276" y="690118"/>
                  </a:cubicBezTo>
                  <a:lnTo>
                    <a:pt x="557276" y="683768"/>
                  </a:lnTo>
                  <a:lnTo>
                    <a:pt x="557276" y="690118"/>
                  </a:lnTo>
                  <a:lnTo>
                    <a:pt x="132842" y="690118"/>
                  </a:lnTo>
                  <a:lnTo>
                    <a:pt x="132842" y="683768"/>
                  </a:lnTo>
                  <a:lnTo>
                    <a:pt x="132842" y="690118"/>
                  </a:lnTo>
                  <a:cubicBezTo>
                    <a:pt x="59436" y="690118"/>
                    <a:pt x="0" y="630682"/>
                    <a:pt x="0" y="557276"/>
                  </a:cubicBezTo>
                  <a:lnTo>
                    <a:pt x="0" y="132842"/>
                  </a:lnTo>
                  <a:lnTo>
                    <a:pt x="6350" y="132842"/>
                  </a:lnTo>
                  <a:lnTo>
                    <a:pt x="0" y="132842"/>
                  </a:lnTo>
                  <a:moveTo>
                    <a:pt x="12700" y="132842"/>
                  </a:moveTo>
                  <a:lnTo>
                    <a:pt x="12700" y="557276"/>
                  </a:lnTo>
                  <a:lnTo>
                    <a:pt x="6350" y="557276"/>
                  </a:lnTo>
                  <a:lnTo>
                    <a:pt x="12700" y="557276"/>
                  </a:lnTo>
                  <a:cubicBezTo>
                    <a:pt x="12700" y="623570"/>
                    <a:pt x="66548" y="677418"/>
                    <a:pt x="132842" y="677418"/>
                  </a:cubicBezTo>
                  <a:lnTo>
                    <a:pt x="557276" y="677418"/>
                  </a:lnTo>
                  <a:cubicBezTo>
                    <a:pt x="623570" y="677418"/>
                    <a:pt x="677418" y="623570"/>
                    <a:pt x="677418" y="557276"/>
                  </a:cubicBezTo>
                  <a:lnTo>
                    <a:pt x="677418" y="132842"/>
                  </a:lnTo>
                  <a:cubicBezTo>
                    <a:pt x="677418" y="66548"/>
                    <a:pt x="623697" y="12700"/>
                    <a:pt x="557276" y="12700"/>
                  </a:cubicBezTo>
                  <a:lnTo>
                    <a:pt x="132842" y="12700"/>
                  </a:lnTo>
                  <a:lnTo>
                    <a:pt x="132842" y="6350"/>
                  </a:lnTo>
                  <a:lnTo>
                    <a:pt x="132842" y="12700"/>
                  </a:lnTo>
                  <a:cubicBezTo>
                    <a:pt x="66548" y="12700"/>
                    <a:pt x="12700" y="66548"/>
                    <a:pt x="12700" y="132842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201373" y="7054825"/>
            <a:ext cx="338728" cy="37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62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50568" y="7032869"/>
            <a:ext cx="2823420" cy="362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Visual Storytelling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50568" y="7454503"/>
            <a:ext cx="4646857" cy="798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Trend lines, heatmaps, and geographic drill-downs for deep insights.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00560" y="894159"/>
            <a:ext cx="2383041" cy="483394"/>
            <a:chOff x="0" y="0"/>
            <a:chExt cx="3177388" cy="6445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7413" cy="644652"/>
            </a:xfrm>
            <a:custGeom>
              <a:avLst/>
              <a:gdLst/>
              <a:ahLst/>
              <a:cxnLst/>
              <a:rect r="r" b="b" t="t" l="l"/>
              <a:pathLst>
                <a:path h="644652" w="3177413">
                  <a:moveTo>
                    <a:pt x="0" y="115316"/>
                  </a:moveTo>
                  <a:cubicBezTo>
                    <a:pt x="0" y="51562"/>
                    <a:pt x="51562" y="0"/>
                    <a:pt x="115316" y="0"/>
                  </a:cubicBezTo>
                  <a:lnTo>
                    <a:pt x="3062097" y="0"/>
                  </a:lnTo>
                  <a:cubicBezTo>
                    <a:pt x="3125724" y="0"/>
                    <a:pt x="3177413" y="51562"/>
                    <a:pt x="3177413" y="115316"/>
                  </a:cubicBezTo>
                  <a:lnTo>
                    <a:pt x="3177413" y="529336"/>
                  </a:lnTo>
                  <a:cubicBezTo>
                    <a:pt x="3177413" y="592963"/>
                    <a:pt x="3125851" y="644652"/>
                    <a:pt x="3062097" y="644652"/>
                  </a:cubicBezTo>
                  <a:lnTo>
                    <a:pt x="115316" y="644652"/>
                  </a:lnTo>
                  <a:cubicBezTo>
                    <a:pt x="51562" y="644525"/>
                    <a:pt x="0" y="592963"/>
                    <a:pt x="0" y="529209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54894" y="904580"/>
            <a:ext cx="2074364" cy="39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5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WEBSITE INTERFACE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0560" y="1451820"/>
            <a:ext cx="11954913" cy="671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Presentation Layer: Engaging &amp; Informative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0560" y="2433342"/>
            <a:ext cx="16486880" cy="89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website serves as the central hub for presenting the project's findings, methodology, and utility in a structured and accessible manner.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85024" y="3687366"/>
            <a:ext cx="3216478" cy="41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24"/>
              </a:lnSpc>
            </a:pPr>
            <a:r>
              <a:rPr lang="en-US" sz="24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Home Page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0560" y="4177008"/>
            <a:ext cx="5100933" cy="89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Project title, problem statement, dataset overview, and real-world relevance.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6258820" y="3622329"/>
            <a:ext cx="5770359" cy="5770359"/>
          </a:xfrm>
          <a:custGeom>
            <a:avLst/>
            <a:gdLst/>
            <a:ahLst/>
            <a:cxnLst/>
            <a:rect r="r" b="b" t="t" l="l"/>
            <a:pathLst>
              <a:path h="5770359" w="5770359">
                <a:moveTo>
                  <a:pt x="0" y="0"/>
                </a:moveTo>
                <a:lnTo>
                  <a:pt x="5770360" y="0"/>
                </a:lnTo>
                <a:lnTo>
                  <a:pt x="5770360" y="5770359"/>
                </a:lnTo>
                <a:lnTo>
                  <a:pt x="0" y="57703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 descr="preencoded.png"/>
          <p:cNvSpPr/>
          <p:nvPr/>
        </p:nvSpPr>
        <p:spPr>
          <a:xfrm flipH="false" flipV="false" rot="0">
            <a:off x="8257280" y="4418257"/>
            <a:ext cx="385020" cy="385020"/>
          </a:xfrm>
          <a:custGeom>
            <a:avLst/>
            <a:gdLst/>
            <a:ahLst/>
            <a:cxnLst/>
            <a:rect r="r" b="b" t="t" l="l"/>
            <a:pathLst>
              <a:path h="385020" w="385020">
                <a:moveTo>
                  <a:pt x="0" y="0"/>
                </a:moveTo>
                <a:lnTo>
                  <a:pt x="385019" y="0"/>
                </a:lnTo>
                <a:lnTo>
                  <a:pt x="385019" y="385020"/>
                </a:lnTo>
                <a:lnTo>
                  <a:pt x="0" y="385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286507" y="3687366"/>
            <a:ext cx="3216478" cy="41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Dashboard Page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86507" y="4177008"/>
            <a:ext cx="5100933" cy="89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Embedded Power BI reports with user-friendly navigation and visible filters.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6258820" y="3622329"/>
            <a:ext cx="5770359" cy="5770359"/>
          </a:xfrm>
          <a:custGeom>
            <a:avLst/>
            <a:gdLst/>
            <a:ahLst/>
            <a:cxnLst/>
            <a:rect r="r" b="b" t="t" l="l"/>
            <a:pathLst>
              <a:path h="5770359" w="5770359">
                <a:moveTo>
                  <a:pt x="0" y="0"/>
                </a:moveTo>
                <a:lnTo>
                  <a:pt x="5770360" y="0"/>
                </a:lnTo>
                <a:lnTo>
                  <a:pt x="5770360" y="5770359"/>
                </a:lnTo>
                <a:lnTo>
                  <a:pt x="0" y="57703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 descr="preencoded.png"/>
          <p:cNvSpPr/>
          <p:nvPr/>
        </p:nvSpPr>
        <p:spPr>
          <a:xfrm flipH="false" flipV="false" rot="0">
            <a:off x="10246814" y="4765472"/>
            <a:ext cx="385020" cy="385020"/>
          </a:xfrm>
          <a:custGeom>
            <a:avLst/>
            <a:gdLst/>
            <a:ahLst/>
            <a:cxnLst/>
            <a:rect r="r" b="b" t="t" l="l"/>
            <a:pathLst>
              <a:path h="385020" w="385020">
                <a:moveTo>
                  <a:pt x="0" y="0"/>
                </a:moveTo>
                <a:lnTo>
                  <a:pt x="385020" y="0"/>
                </a:lnTo>
                <a:lnTo>
                  <a:pt x="385020" y="385019"/>
                </a:lnTo>
                <a:lnTo>
                  <a:pt x="0" y="3850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219" t="0" r="-1219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543834" y="5602186"/>
            <a:ext cx="3216478" cy="41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Insights Page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43834" y="6091828"/>
            <a:ext cx="4843615" cy="131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Key findings presented with text and chart screenshots, detailing "What we discovered."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6258820" y="3622329"/>
            <a:ext cx="5770359" cy="5770359"/>
          </a:xfrm>
          <a:custGeom>
            <a:avLst/>
            <a:gdLst/>
            <a:ahLst/>
            <a:cxnLst/>
            <a:rect r="r" b="b" t="t" l="l"/>
            <a:pathLst>
              <a:path h="5770359" w="5770359">
                <a:moveTo>
                  <a:pt x="0" y="0"/>
                </a:moveTo>
                <a:lnTo>
                  <a:pt x="5770360" y="0"/>
                </a:lnTo>
                <a:lnTo>
                  <a:pt x="5770360" y="5770359"/>
                </a:lnTo>
                <a:lnTo>
                  <a:pt x="0" y="57703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2" id="22" descr="preencoded.png"/>
          <p:cNvSpPr/>
          <p:nvPr/>
        </p:nvSpPr>
        <p:spPr>
          <a:xfrm flipH="false" flipV="false" rot="0">
            <a:off x="10940948" y="6662147"/>
            <a:ext cx="385020" cy="385020"/>
          </a:xfrm>
          <a:custGeom>
            <a:avLst/>
            <a:gdLst/>
            <a:ahLst/>
            <a:cxnLst/>
            <a:rect r="r" b="b" t="t" l="l"/>
            <a:pathLst>
              <a:path h="385020" w="385020">
                <a:moveTo>
                  <a:pt x="0" y="0"/>
                </a:moveTo>
                <a:lnTo>
                  <a:pt x="385020" y="0"/>
                </a:lnTo>
                <a:lnTo>
                  <a:pt x="385020" y="385019"/>
                </a:lnTo>
                <a:lnTo>
                  <a:pt x="0" y="3850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8292" r="0" b="-18292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286507" y="7928820"/>
            <a:ext cx="3216478" cy="41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Prediction Page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86507" y="8418462"/>
            <a:ext cx="5100933" cy="89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Explanation of prediction logic, sample outputs, and risk category definitions.</a:t>
            </a:r>
          </a:p>
        </p:txBody>
      </p:sp>
      <p:sp>
        <p:nvSpPr>
          <p:cNvPr name="Freeform 25" id="25" descr="preencoded.png"/>
          <p:cNvSpPr/>
          <p:nvPr/>
        </p:nvSpPr>
        <p:spPr>
          <a:xfrm flipH="false" flipV="false" rot="0">
            <a:off x="6258820" y="3622329"/>
            <a:ext cx="5770359" cy="5770359"/>
          </a:xfrm>
          <a:custGeom>
            <a:avLst/>
            <a:gdLst/>
            <a:ahLst/>
            <a:cxnLst/>
            <a:rect r="r" b="b" t="t" l="l"/>
            <a:pathLst>
              <a:path h="5770359" w="5770359">
                <a:moveTo>
                  <a:pt x="0" y="0"/>
                </a:moveTo>
                <a:lnTo>
                  <a:pt x="5770360" y="0"/>
                </a:lnTo>
                <a:lnTo>
                  <a:pt x="5770360" y="5770359"/>
                </a:lnTo>
                <a:lnTo>
                  <a:pt x="0" y="57703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6" id="26" descr="preencoded.png"/>
          <p:cNvSpPr/>
          <p:nvPr/>
        </p:nvSpPr>
        <p:spPr>
          <a:xfrm flipH="false" flipV="false" rot="0">
            <a:off x="9645406" y="8211445"/>
            <a:ext cx="385020" cy="385020"/>
          </a:xfrm>
          <a:custGeom>
            <a:avLst/>
            <a:gdLst/>
            <a:ahLst/>
            <a:cxnLst/>
            <a:rect r="r" b="b" t="t" l="l"/>
            <a:pathLst>
              <a:path h="385020" w="385020">
                <a:moveTo>
                  <a:pt x="0" y="0"/>
                </a:moveTo>
                <a:lnTo>
                  <a:pt x="385019" y="0"/>
                </a:lnTo>
                <a:lnTo>
                  <a:pt x="385019" y="385020"/>
                </a:lnTo>
                <a:lnTo>
                  <a:pt x="0" y="3850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3413" r="0" b="-13415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785024" y="7928820"/>
            <a:ext cx="3216478" cy="41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24"/>
              </a:lnSpc>
            </a:pPr>
            <a:r>
              <a:rPr lang="en-US" sz="24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Methodology Page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0560" y="8418462"/>
            <a:ext cx="5100933" cy="89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Detailed steps for data cleaning, algorithms used, and technology stack.</a:t>
            </a:r>
          </a:p>
        </p:txBody>
      </p:sp>
      <p:sp>
        <p:nvSpPr>
          <p:cNvPr name="Freeform 29" id="29" descr="preencoded.png"/>
          <p:cNvSpPr/>
          <p:nvPr/>
        </p:nvSpPr>
        <p:spPr>
          <a:xfrm flipH="false" flipV="false" rot="0">
            <a:off x="6258820" y="3622329"/>
            <a:ext cx="5770359" cy="5770359"/>
          </a:xfrm>
          <a:custGeom>
            <a:avLst/>
            <a:gdLst/>
            <a:ahLst/>
            <a:cxnLst/>
            <a:rect r="r" b="b" t="t" l="l"/>
            <a:pathLst>
              <a:path h="5770359" w="5770359">
                <a:moveTo>
                  <a:pt x="0" y="0"/>
                </a:moveTo>
                <a:lnTo>
                  <a:pt x="5770360" y="0"/>
                </a:lnTo>
                <a:lnTo>
                  <a:pt x="5770360" y="5770359"/>
                </a:lnTo>
                <a:lnTo>
                  <a:pt x="0" y="577035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0" id="30" descr="preencoded.png"/>
          <p:cNvSpPr/>
          <p:nvPr/>
        </p:nvSpPr>
        <p:spPr>
          <a:xfrm flipH="false" flipV="false" rot="0">
            <a:off x="7655871" y="7864231"/>
            <a:ext cx="385020" cy="385020"/>
          </a:xfrm>
          <a:custGeom>
            <a:avLst/>
            <a:gdLst/>
            <a:ahLst/>
            <a:cxnLst/>
            <a:rect r="r" b="b" t="t" l="l"/>
            <a:pathLst>
              <a:path h="385020" w="385020">
                <a:moveTo>
                  <a:pt x="0" y="0"/>
                </a:moveTo>
                <a:lnTo>
                  <a:pt x="385020" y="0"/>
                </a:lnTo>
                <a:lnTo>
                  <a:pt x="385020" y="385019"/>
                </a:lnTo>
                <a:lnTo>
                  <a:pt x="0" y="3850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9757" r="0" b="-9754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527697" y="5602186"/>
            <a:ext cx="3216478" cy="41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24"/>
              </a:lnSpc>
            </a:pPr>
            <a:r>
              <a:rPr lang="en-US" sz="24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Future Scope Page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00560" y="6091828"/>
            <a:ext cx="4843615" cy="131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Discussion on real-time data integration, police &amp; insurance usage, and smart city integration.</a:t>
            </a:r>
          </a:p>
        </p:txBody>
      </p:sp>
      <p:sp>
        <p:nvSpPr>
          <p:cNvPr name="Freeform 33" id="33" descr="preencoded.png"/>
          <p:cNvSpPr/>
          <p:nvPr/>
        </p:nvSpPr>
        <p:spPr>
          <a:xfrm flipH="false" flipV="false" rot="0">
            <a:off x="6258820" y="3622329"/>
            <a:ext cx="5770359" cy="5770359"/>
          </a:xfrm>
          <a:custGeom>
            <a:avLst/>
            <a:gdLst/>
            <a:ahLst/>
            <a:cxnLst/>
            <a:rect r="r" b="b" t="t" l="l"/>
            <a:pathLst>
              <a:path h="5770359" w="5770359">
                <a:moveTo>
                  <a:pt x="0" y="0"/>
                </a:moveTo>
                <a:lnTo>
                  <a:pt x="5770360" y="0"/>
                </a:lnTo>
                <a:lnTo>
                  <a:pt x="5770360" y="5770359"/>
                </a:lnTo>
                <a:lnTo>
                  <a:pt x="0" y="577035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4" id="34" descr="preencoded.png"/>
          <p:cNvSpPr/>
          <p:nvPr/>
        </p:nvSpPr>
        <p:spPr>
          <a:xfrm flipH="false" flipV="false" rot="0">
            <a:off x="6961737" y="5967565"/>
            <a:ext cx="385020" cy="385020"/>
          </a:xfrm>
          <a:custGeom>
            <a:avLst/>
            <a:gdLst/>
            <a:ahLst/>
            <a:cxnLst/>
            <a:rect r="r" b="b" t="t" l="l"/>
            <a:pathLst>
              <a:path h="385020" w="385020">
                <a:moveTo>
                  <a:pt x="0" y="0"/>
                </a:moveTo>
                <a:lnTo>
                  <a:pt x="385019" y="0"/>
                </a:lnTo>
                <a:lnTo>
                  <a:pt x="385019" y="385019"/>
                </a:lnTo>
                <a:lnTo>
                  <a:pt x="0" y="38501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-30488" r="0" b="-30485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>
            <a:hlinkClick r:id="rId4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15731" y="987628"/>
            <a:ext cx="1702594" cy="437855"/>
            <a:chOff x="0" y="0"/>
            <a:chExt cx="2270125" cy="5838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9998" cy="583819"/>
            </a:xfrm>
            <a:custGeom>
              <a:avLst/>
              <a:gdLst/>
              <a:ahLst/>
              <a:cxnLst/>
              <a:rect r="r" b="b" t="t" l="l"/>
              <a:pathLst>
                <a:path h="583819" w="2269998">
                  <a:moveTo>
                    <a:pt x="0" y="104394"/>
                  </a:moveTo>
                  <a:cubicBezTo>
                    <a:pt x="0" y="46736"/>
                    <a:pt x="46736" y="0"/>
                    <a:pt x="104394" y="0"/>
                  </a:cubicBezTo>
                  <a:lnTo>
                    <a:pt x="2165604" y="0"/>
                  </a:lnTo>
                  <a:cubicBezTo>
                    <a:pt x="2223262" y="0"/>
                    <a:pt x="2269998" y="46736"/>
                    <a:pt x="2269998" y="104394"/>
                  </a:cubicBezTo>
                  <a:lnTo>
                    <a:pt x="2269998" y="479425"/>
                  </a:lnTo>
                  <a:cubicBezTo>
                    <a:pt x="2269998" y="537083"/>
                    <a:pt x="2223262" y="583819"/>
                    <a:pt x="2165604" y="583819"/>
                  </a:cubicBezTo>
                  <a:lnTo>
                    <a:pt x="104394" y="583819"/>
                  </a:lnTo>
                  <a:cubicBezTo>
                    <a:pt x="46736" y="583819"/>
                    <a:pt x="0" y="537083"/>
                    <a:pt x="0" y="479425"/>
                  </a:cubicBezTo>
                  <a:close/>
                </a:path>
              </a:pathLst>
            </a:custGeom>
            <a:solidFill>
              <a:srgbClr val="DADBF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55472" y="990752"/>
            <a:ext cx="1423092" cy="3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FUTURE VISION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5731" y="1499597"/>
            <a:ext cx="9798548" cy="1184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62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Expanding Horizons: Future Scope &amp; Real-World Utility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5731" y="2967190"/>
            <a:ext cx="9798548" cy="81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project's potential extends beyond its current scope, offering numerous avenues for future development and broader impact.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5731" y="4255741"/>
            <a:ext cx="3718169" cy="38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Future Enhancements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5731" y="4805363"/>
            <a:ext cx="4615015" cy="81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Real-time accident data ingestion for immediate updates.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5731" y="5632552"/>
            <a:ext cx="4615015" cy="81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Weather-based risk prediction to enhance accuracy.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5731" y="6459741"/>
            <a:ext cx="4615015" cy="81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Mobile application development for public alerts and safety.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5731" y="7286920"/>
            <a:ext cx="4615015" cy="81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Seamless integration with Google Maps for navigation and warnings.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5731" y="8114109"/>
            <a:ext cx="4615015" cy="81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AI-driven accident prevention alerts for autonomous systems.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08789" y="4255741"/>
            <a:ext cx="3211411" cy="38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Impactful Applications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08789" y="4805363"/>
            <a:ext cx="4615015" cy="118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b="true" sz="181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Traffic Police:</a:t>
            </a: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Optimized patrol allocations and proactive accident prevention.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08789" y="6005360"/>
            <a:ext cx="4615015" cy="118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b="true" sz="181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Urban Planners:</a:t>
            </a: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Informed road design improvements and infrastructure development.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08789" y="7205367"/>
            <a:ext cx="4615015" cy="118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b="true" sz="181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Emergency Services:</a:t>
            </a: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Efficient resource deployment and ambulance placement.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08789" y="8405365"/>
            <a:ext cx="4615015" cy="81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875"/>
              </a:lnSpc>
              <a:buFont typeface="Arial"/>
              <a:buChar char="•"/>
            </a:pPr>
            <a:r>
              <a:rPr lang="en-US" b="true" sz="181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Insurance Companies:</a:t>
            </a: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Refined risk-based premium calculations.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DAG9kHd2C6A</dc:identifier>
  <dcterms:modified xsi:type="dcterms:W3CDTF">2011-08-01T06:04:30Z</dcterms:modified>
  <cp:revision>1</cp:revision>
  <dc:title>US-Road-Accident-Intelligence-and-Risk-Prediction-System.pptx</dc:title>
</cp:coreProperties>
</file>